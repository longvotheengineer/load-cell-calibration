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60" autoAdjust="0"/>
    <p:restoredTop sz="94660"/>
  </p:normalViewPr>
  <p:slideViewPr>
    <p:cSldViewPr snapToGrid="0">
      <p:cViewPr>
        <p:scale>
          <a:sx n="75" d="100"/>
          <a:sy n="75" d="100"/>
        </p:scale>
        <p:origin x="336" y="7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69B1-D768-4319-8959-ECAD810F5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DAC87-CCF5-4C5F-B9BD-FF8DE9C9A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5EE16-F49F-4752-8B0F-375FB141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118A-3151-4549-99F6-E9A20A082AC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A6E41-FE35-487B-A929-DE816AE1B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ECDF5-72C2-409C-84D7-1482E710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F9BE-B9E8-49C0-8B97-7C59FF3B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3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08FE-57F5-404A-8362-973D9B47E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7EFB2-3609-4476-86D6-6D8F7B2B3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E7F7B-E585-4181-A8EA-DFEED25F3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118A-3151-4549-99F6-E9A20A082AC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D40BF-730B-477E-8081-510BC697B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0C7CD-D1B6-4468-B12A-99CF9B5D8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F9BE-B9E8-49C0-8B97-7C59FF3B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3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F468-4CC3-43DF-9798-AE83FE83C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E8EBE-140B-4164-98AC-72F8219D6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014C-1494-4653-8836-24BF1B18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118A-3151-4549-99F6-E9A20A082AC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C6EE0-092A-4562-8900-605943402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569A8-4C61-4F09-AB59-3CC8880C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F9BE-B9E8-49C0-8B97-7C59FF3B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1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89B0-B526-4418-ACC5-94DA550C2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92098-5EBA-4AE5-8DBE-FA7ADD1EA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A4921-256A-43CE-A74E-69E3C1573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00550-2E64-4378-99BC-A9EA0496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118A-3151-4549-99F6-E9A20A082AC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A06E7-7798-4468-B838-080FC4781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2063C-13F6-4137-AF5A-1CA953C69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F9BE-B9E8-49C0-8B97-7C59FF3B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9DD9-A1E6-434C-B646-D6A29885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AFE3-A898-44F8-9E88-12F0E3BEA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A1408-9A05-428C-AB68-2D7C8AA10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B255A-3B72-43BA-8CDD-39FFECF33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2E15B4-E0D6-405F-899D-73E7AC3DC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3581B9-ABB4-4F1A-AAB8-F0BEC50A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118A-3151-4549-99F6-E9A20A082AC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65A034-FE9D-44A4-A9BE-11686D488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650544-9612-4EE2-ADD6-A97A2CE3C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F9BE-B9E8-49C0-8B97-7C59FF3B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0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E229B-A2E3-47FF-829E-052B48F4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41E39-CEA3-4D09-BF0F-7524E0177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118A-3151-4549-99F6-E9A20A082AC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49911-7B81-40FF-83B2-6DB3A9179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067BF-246C-44DF-8CBB-310891A1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F9BE-B9E8-49C0-8B97-7C59FF3B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80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2950AB-D583-4E2E-8BEE-8DE597203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118A-3151-4549-99F6-E9A20A082AC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F10609-C634-480D-B076-ED6A66780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8126B-6BFE-414D-8578-6F1003ECE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F9BE-B9E8-49C0-8B97-7C59FF3B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18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A0E8-7DD2-49BF-87BC-279B52BA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2EDE1-9AB8-4D5E-896C-E4393AB22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7843B-2018-4EB6-97CD-B46B14827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EF797-A10A-435D-9524-473BAA83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118A-3151-4549-99F6-E9A20A082AC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4409E-9976-4963-8A21-1281B9727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742EE-55CB-4E22-BB88-89E93D582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F9BE-B9E8-49C0-8B97-7C59FF3B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C4CB8-5620-4345-9D54-35C4D7642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8922A-BD23-4C29-AA03-DC3DCFBB5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09364-2D51-44F1-9A13-02D05B0FA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6F352-F5C3-4CB4-931F-B7BDB718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118A-3151-4549-99F6-E9A20A082AC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6B9E8-4694-4AA4-93DE-D7B89C43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C326F-92E4-46B7-A0B3-D0A19C76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F9BE-B9E8-49C0-8B97-7C59FF3B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27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6CEA-914A-446B-B547-B0DA1309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5A2AB-7FBA-462E-8E84-B2FD1958E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FFB16-7B36-4955-9184-BA4C960F8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118A-3151-4549-99F6-E9A20A082AC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DBB20-6384-4A6E-B954-E3CBD232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2A833-FAFA-408E-85DF-D5748C3F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F9BE-B9E8-49C0-8B97-7C59FF3B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6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61AD98-48F1-4F8F-B1C9-7692F1C0E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E0779C-5440-4E34-9B41-3674FABB2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B4004-A12A-4224-84B1-63FDC113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118A-3151-4549-99F6-E9A20A082AC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1B18A-6697-4789-B03B-D782E002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701D7-BB3E-4608-BBCA-A50FF2B0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F9BE-B9E8-49C0-8B97-7C59FF3B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97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E2DAB-4BB2-4CC8-B2F8-69E7D63EB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1D739-E60C-423C-987F-163088D9B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4AFD6-3C7C-4B11-8A53-D7D847852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F118A-3151-4549-99F6-E9A20A082AC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E211C-9A27-499F-AE5D-9DB837BED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76A6B-7BFA-4D77-881D-9E7000EE2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DF9BE-B9E8-49C0-8B97-7C59FF3B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2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2F11F4-1260-4914-A869-94B9DAF41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124" y="595883"/>
            <a:ext cx="6931672" cy="9742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AA8BB-4968-4E2D-93C4-418C435BD8B8}"/>
              </a:ext>
            </a:extLst>
          </p:cNvPr>
          <p:cNvSpPr txBox="1"/>
          <p:nvPr/>
        </p:nvSpPr>
        <p:spPr>
          <a:xfrm>
            <a:off x="3868260" y="1702193"/>
            <a:ext cx="44554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INDUSTRIAL INSTRUMENTATION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A89BE6-AB50-4173-B47A-DA11AD837E81}"/>
              </a:ext>
            </a:extLst>
          </p:cNvPr>
          <p:cNvCxnSpPr>
            <a:cxnSpLocks/>
          </p:cNvCxnSpPr>
          <p:nvPr/>
        </p:nvCxnSpPr>
        <p:spPr>
          <a:xfrm>
            <a:off x="3962400" y="3025632"/>
            <a:ext cx="426212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BDF866-E4F4-48B9-B5C5-0E77B5A4B729}"/>
              </a:ext>
            </a:extLst>
          </p:cNvPr>
          <p:cNvSpPr txBox="1"/>
          <p:nvPr/>
        </p:nvSpPr>
        <p:spPr>
          <a:xfrm>
            <a:off x="3865720" y="3157712"/>
            <a:ext cx="4455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PROJECT REPORT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F8695-73AD-4B1D-99D9-3832BBC05182}"/>
              </a:ext>
            </a:extLst>
          </p:cNvPr>
          <p:cNvSpPr txBox="1"/>
          <p:nvPr/>
        </p:nvSpPr>
        <p:spPr>
          <a:xfrm>
            <a:off x="3129199" y="3823582"/>
            <a:ext cx="5928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Design &amp; Calibration of a Digital Weighing Scale</a:t>
            </a:r>
            <a:r>
              <a:rPr lang="vi-VN" sz="3200" b="1" dirty="0"/>
              <a:t> </a:t>
            </a:r>
            <a:r>
              <a:rPr lang="vi-V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</a:p>
          <a:p>
            <a:pPr algn="ctr"/>
            <a:r>
              <a:rPr lang="vi-V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STM32 and Load Cell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182922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EA84DD-0D22-4358-BDCB-89E44731D298}"/>
              </a:ext>
            </a:extLst>
          </p:cNvPr>
          <p:cNvSpPr/>
          <p:nvPr/>
        </p:nvSpPr>
        <p:spPr>
          <a:xfrm>
            <a:off x="1793852" y="524649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/>
              <a:t>Hardware Design &amp; Implementation</a:t>
            </a:r>
            <a:endParaRPr lang="en-US" sz="3300" kern="12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6761B9-EE80-4D12-8439-ECD1B6C7C36E}"/>
              </a:ext>
            </a:extLst>
          </p:cNvPr>
          <p:cNvSpPr/>
          <p:nvPr/>
        </p:nvSpPr>
        <p:spPr>
          <a:xfrm>
            <a:off x="1793852" y="3126369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Configuration &amp; Programming</a:t>
            </a:r>
            <a:endParaRPr lang="en-US" sz="3300" kern="12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7236D24-3EA2-4F03-82BB-A2C6682FE9DF}"/>
              </a:ext>
            </a:extLst>
          </p:cNvPr>
          <p:cNvSpPr/>
          <p:nvPr/>
        </p:nvSpPr>
        <p:spPr>
          <a:xfrm>
            <a:off x="1793852" y="3900356"/>
            <a:ext cx="8171950" cy="1366200"/>
          </a:xfrm>
          <a:custGeom>
            <a:avLst/>
            <a:gdLst>
              <a:gd name="connsiteX0" fmla="*/ 0 w 8171950"/>
              <a:gd name="connsiteY0" fmla="*/ 0 h 1366200"/>
              <a:gd name="connsiteX1" fmla="*/ 8171950 w 8171950"/>
              <a:gd name="connsiteY1" fmla="*/ 0 h 1366200"/>
              <a:gd name="connsiteX2" fmla="*/ 8171950 w 8171950"/>
              <a:gd name="connsiteY2" fmla="*/ 1366200 h 1366200"/>
              <a:gd name="connsiteX3" fmla="*/ 0 w 8171950"/>
              <a:gd name="connsiteY3" fmla="*/ 1366200 h 1366200"/>
              <a:gd name="connsiteX4" fmla="*/ 0 w 8171950"/>
              <a:gd name="connsiteY4" fmla="*/ 0 h 136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366200">
                <a:moveTo>
                  <a:pt x="0" y="0"/>
                </a:moveTo>
                <a:lnTo>
                  <a:pt x="8171950" y="0"/>
                </a:lnTo>
                <a:lnTo>
                  <a:pt x="8171950" y="1366200"/>
                </a:lnTo>
                <a:lnTo>
                  <a:pt x="0" y="13662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Configure</a:t>
            </a:r>
            <a:endParaRPr lang="en-US" sz="2600" kern="1200" dirty="0"/>
          </a:p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 Code</a:t>
            </a:r>
            <a:endParaRPr lang="en-US" sz="2600" kern="1200" dirty="0"/>
          </a:p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vi-VN" sz="2600" b="1" kern="1200" dirty="0"/>
              <a:t>GUI</a:t>
            </a:r>
            <a:endParaRPr lang="en-US" sz="26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2F02E-6D75-41AA-AFE1-2041436AED37}"/>
              </a:ext>
            </a:extLst>
          </p:cNvPr>
          <p:cNvSpPr/>
          <p:nvPr/>
        </p:nvSpPr>
        <p:spPr>
          <a:xfrm>
            <a:off x="1793852" y="5284074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/>
              <a:t>Result</a:t>
            </a:r>
            <a:endParaRPr lang="en-US" sz="3300" kern="12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1EFEF0D-33E4-444B-A93A-8C2C97019444}"/>
              </a:ext>
            </a:extLst>
          </p:cNvPr>
          <p:cNvSpPr/>
          <p:nvPr/>
        </p:nvSpPr>
        <p:spPr>
          <a:xfrm>
            <a:off x="1793852" y="1316154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63EFBF-A31D-467A-B7C7-6AEFE89BF778}"/>
              </a:ext>
            </a:extLst>
          </p:cNvPr>
          <p:cNvSpPr/>
          <p:nvPr/>
        </p:nvSpPr>
        <p:spPr>
          <a:xfrm>
            <a:off x="1793852" y="1777509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AB2392C-8982-48D1-9291-311BACBBCB3A}"/>
              </a:ext>
            </a:extLst>
          </p:cNvPr>
          <p:cNvSpPr/>
          <p:nvPr/>
        </p:nvSpPr>
        <p:spPr>
          <a:xfrm>
            <a:off x="1793852" y="2203652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90B5A2A-61D2-4DD8-BD7A-AB07C1F7EDB5}"/>
              </a:ext>
            </a:extLst>
          </p:cNvPr>
          <p:cNvSpPr/>
          <p:nvPr/>
        </p:nvSpPr>
        <p:spPr>
          <a:xfrm>
            <a:off x="1793852" y="2631102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E2C47DB-8BFC-46E6-BD92-A53BD94024B0}"/>
              </a:ext>
            </a:extLst>
          </p:cNvPr>
          <p:cNvSpPr/>
          <p:nvPr/>
        </p:nvSpPr>
        <p:spPr>
          <a:xfrm>
            <a:off x="-8662703" y="1834967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/>
              <a:t>Load Cell (1Kg type)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8AE3A46-CB89-4290-A802-A5BF13DA7C79}"/>
              </a:ext>
            </a:extLst>
          </p:cNvPr>
          <p:cNvSpPr/>
          <p:nvPr/>
        </p:nvSpPr>
        <p:spPr>
          <a:xfrm>
            <a:off x="-9807486" y="1360843"/>
            <a:ext cx="1463040" cy="1463040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9EFFF80-396B-42A2-971D-0468B87F2209}"/>
              </a:ext>
            </a:extLst>
          </p:cNvPr>
          <p:cNvSpPr/>
          <p:nvPr/>
        </p:nvSpPr>
        <p:spPr>
          <a:xfrm>
            <a:off x="-8662703" y="3251332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/>
              <a:t>Op-amp LM358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B797B-D5F9-4845-B8D1-17387FB81981}"/>
              </a:ext>
            </a:extLst>
          </p:cNvPr>
          <p:cNvSpPr/>
          <p:nvPr/>
        </p:nvSpPr>
        <p:spPr>
          <a:xfrm>
            <a:off x="-9659989" y="2952825"/>
            <a:ext cx="1175858" cy="1175858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6BA7D53-2C97-4E52-B4C7-FF9E75E541E3}"/>
              </a:ext>
            </a:extLst>
          </p:cNvPr>
          <p:cNvSpPr/>
          <p:nvPr/>
        </p:nvSpPr>
        <p:spPr>
          <a:xfrm>
            <a:off x="-8662703" y="4667697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/>
              <a:t>Capacitor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1BB7D6-E7BA-4320-8731-52E571ADA432}"/>
              </a:ext>
            </a:extLst>
          </p:cNvPr>
          <p:cNvSpPr/>
          <p:nvPr/>
        </p:nvSpPr>
        <p:spPr>
          <a:xfrm>
            <a:off x="-9665754" y="4322127"/>
            <a:ext cx="1179576" cy="1179576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0" r="-10000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81D1D7E-213F-40E7-90AF-3B4608F65478}"/>
              </a:ext>
            </a:extLst>
          </p:cNvPr>
          <p:cNvSpPr/>
          <p:nvPr/>
        </p:nvSpPr>
        <p:spPr>
          <a:xfrm flipH="1">
            <a:off x="16155885" y="2543150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/>
              <a:t>KIT STM32 Blue Pill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50AF69-7123-4A50-A97C-E818EE779D30}"/>
              </a:ext>
            </a:extLst>
          </p:cNvPr>
          <p:cNvSpPr/>
          <p:nvPr/>
        </p:nvSpPr>
        <p:spPr>
          <a:xfrm>
            <a:off x="21146149" y="2106452"/>
            <a:ext cx="1463040" cy="1463040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7000" r="-17000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CB6A151-9711-429C-B53C-8A9F51438F19}"/>
              </a:ext>
            </a:extLst>
          </p:cNvPr>
          <p:cNvSpPr/>
          <p:nvPr/>
        </p:nvSpPr>
        <p:spPr>
          <a:xfrm flipH="1">
            <a:off x="16097162" y="3959515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/>
              <a:t>Resistor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271C108-6DA8-4D52-9232-BF035D7DE539}"/>
              </a:ext>
            </a:extLst>
          </p:cNvPr>
          <p:cNvSpPr/>
          <p:nvPr/>
        </p:nvSpPr>
        <p:spPr>
          <a:xfrm>
            <a:off x="21323985" y="3665912"/>
            <a:ext cx="1107369" cy="1107369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682737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EA84DD-0D22-4358-BDCB-89E44731D298}"/>
              </a:ext>
            </a:extLst>
          </p:cNvPr>
          <p:cNvSpPr/>
          <p:nvPr/>
        </p:nvSpPr>
        <p:spPr>
          <a:xfrm>
            <a:off x="1793852" y="91408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Hardware Design &amp; Implementation</a:t>
            </a:r>
            <a:endParaRPr lang="en-US" sz="3300" kern="12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9F1D388-AB29-480F-9266-19D071F792D3}"/>
              </a:ext>
            </a:extLst>
          </p:cNvPr>
          <p:cNvSpPr/>
          <p:nvPr/>
        </p:nvSpPr>
        <p:spPr>
          <a:xfrm>
            <a:off x="1793852" y="888628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6761B9-EE80-4D12-8439-ECD1B6C7C36E}"/>
              </a:ext>
            </a:extLst>
          </p:cNvPr>
          <p:cNvSpPr/>
          <p:nvPr/>
        </p:nvSpPr>
        <p:spPr>
          <a:xfrm>
            <a:off x="1793852" y="7165934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Configuration &amp; Programming</a:t>
            </a:r>
            <a:endParaRPr lang="en-US" sz="3300" kern="12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7236D24-3EA2-4F03-82BB-A2C6682FE9DF}"/>
              </a:ext>
            </a:extLst>
          </p:cNvPr>
          <p:cNvSpPr/>
          <p:nvPr/>
        </p:nvSpPr>
        <p:spPr>
          <a:xfrm>
            <a:off x="1793852" y="7939921"/>
            <a:ext cx="8171950" cy="1366200"/>
          </a:xfrm>
          <a:custGeom>
            <a:avLst/>
            <a:gdLst>
              <a:gd name="connsiteX0" fmla="*/ 0 w 8171950"/>
              <a:gd name="connsiteY0" fmla="*/ 0 h 1366200"/>
              <a:gd name="connsiteX1" fmla="*/ 8171950 w 8171950"/>
              <a:gd name="connsiteY1" fmla="*/ 0 h 1366200"/>
              <a:gd name="connsiteX2" fmla="*/ 8171950 w 8171950"/>
              <a:gd name="connsiteY2" fmla="*/ 1366200 h 1366200"/>
              <a:gd name="connsiteX3" fmla="*/ 0 w 8171950"/>
              <a:gd name="connsiteY3" fmla="*/ 1366200 h 1366200"/>
              <a:gd name="connsiteX4" fmla="*/ 0 w 8171950"/>
              <a:gd name="connsiteY4" fmla="*/ 0 h 136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366200">
                <a:moveTo>
                  <a:pt x="0" y="0"/>
                </a:moveTo>
                <a:lnTo>
                  <a:pt x="8171950" y="0"/>
                </a:lnTo>
                <a:lnTo>
                  <a:pt x="8171950" y="1366200"/>
                </a:lnTo>
                <a:lnTo>
                  <a:pt x="0" y="13662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Configure</a:t>
            </a:r>
            <a:endParaRPr lang="en-US" sz="2600" kern="1200" dirty="0"/>
          </a:p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 Code</a:t>
            </a:r>
            <a:endParaRPr lang="en-US" sz="2600" kern="1200" dirty="0"/>
          </a:p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vi-VN" sz="2600" b="1" kern="1200" dirty="0"/>
              <a:t>GUI</a:t>
            </a:r>
            <a:endParaRPr lang="en-US" sz="26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2F02E-6D75-41AA-AFE1-2041436AED37}"/>
              </a:ext>
            </a:extLst>
          </p:cNvPr>
          <p:cNvSpPr/>
          <p:nvPr/>
        </p:nvSpPr>
        <p:spPr>
          <a:xfrm>
            <a:off x="1793852" y="9323639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/>
              <a:t>Result</a:t>
            </a:r>
            <a:endParaRPr lang="en-US" sz="3300" kern="12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E13B2B1-1DBD-4918-951A-A89743DB8DF5}"/>
              </a:ext>
            </a:extLst>
          </p:cNvPr>
          <p:cNvSpPr/>
          <p:nvPr/>
        </p:nvSpPr>
        <p:spPr>
          <a:xfrm>
            <a:off x="1793852" y="5662927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>
                <a:solidFill>
                  <a:schemeClr val="bg2">
                    <a:lumMod val="90000"/>
                  </a:schemeClr>
                </a:solidFill>
              </a:rPr>
              <a:t>Wiring</a:t>
            </a:r>
            <a:endParaRPr lang="en-US" sz="2600" kern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ABFB6C-C04B-4744-BA99-1E09B3DEFE06}"/>
              </a:ext>
            </a:extLst>
          </p:cNvPr>
          <p:cNvSpPr/>
          <p:nvPr/>
        </p:nvSpPr>
        <p:spPr>
          <a:xfrm>
            <a:off x="1793852" y="6085605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>
                <a:solidFill>
                  <a:schemeClr val="bg2">
                    <a:lumMod val="90000"/>
                  </a:schemeClr>
                </a:solidFill>
              </a:rPr>
              <a:t>Select resistor</a:t>
            </a:r>
            <a:endParaRPr lang="en-US" sz="2600" kern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4D222F4-206D-469E-98E1-E4BCF6A9BAC8}"/>
              </a:ext>
            </a:extLst>
          </p:cNvPr>
          <p:cNvSpPr/>
          <p:nvPr/>
        </p:nvSpPr>
        <p:spPr>
          <a:xfrm>
            <a:off x="1793852" y="6466591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>
                <a:solidFill>
                  <a:schemeClr val="bg2">
                    <a:lumMod val="90000"/>
                  </a:schemeClr>
                </a:solidFill>
              </a:rPr>
              <a:t>Hardware connection</a:t>
            </a:r>
            <a:endParaRPr lang="en-US" sz="2600" kern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F63A029-7FD7-404E-9AA9-2E1ACEC92354}"/>
              </a:ext>
            </a:extLst>
          </p:cNvPr>
          <p:cNvSpPr/>
          <p:nvPr/>
        </p:nvSpPr>
        <p:spPr>
          <a:xfrm>
            <a:off x="3223498" y="1834967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/>
              <a:t>Load Cell (1Kg type)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2074C5-745D-40C8-9893-C7E5F18DC7D1}"/>
              </a:ext>
            </a:extLst>
          </p:cNvPr>
          <p:cNvSpPr/>
          <p:nvPr/>
        </p:nvSpPr>
        <p:spPr>
          <a:xfrm>
            <a:off x="2078715" y="1360843"/>
            <a:ext cx="1463040" cy="1463040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97F49D8-95C0-46B5-959F-E7CAE28982FE}"/>
              </a:ext>
            </a:extLst>
          </p:cNvPr>
          <p:cNvSpPr/>
          <p:nvPr/>
        </p:nvSpPr>
        <p:spPr>
          <a:xfrm flipH="1">
            <a:off x="3903007" y="2543150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/>
              <a:t>KIT STM32 Blue Pill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7706BB5-30A0-4ED0-8327-72D78D8C5DDC}"/>
              </a:ext>
            </a:extLst>
          </p:cNvPr>
          <p:cNvSpPr/>
          <p:nvPr/>
        </p:nvSpPr>
        <p:spPr>
          <a:xfrm>
            <a:off x="8893271" y="2106452"/>
            <a:ext cx="1463040" cy="1463040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7000" r="-17000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0BBD7D-B7AF-43C8-93FE-3BE9A70D6CCF}"/>
              </a:ext>
            </a:extLst>
          </p:cNvPr>
          <p:cNvSpPr/>
          <p:nvPr/>
        </p:nvSpPr>
        <p:spPr>
          <a:xfrm>
            <a:off x="3223498" y="3251332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/>
              <a:t>Op-amp LM358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6C2EF4-B5BB-40FC-A359-ABBCC2343F44}"/>
              </a:ext>
            </a:extLst>
          </p:cNvPr>
          <p:cNvSpPr/>
          <p:nvPr/>
        </p:nvSpPr>
        <p:spPr>
          <a:xfrm>
            <a:off x="2226212" y="2952825"/>
            <a:ext cx="1175858" cy="1175858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8A00B99-E645-4F7E-A906-87086722D6AC}"/>
              </a:ext>
            </a:extLst>
          </p:cNvPr>
          <p:cNvSpPr/>
          <p:nvPr/>
        </p:nvSpPr>
        <p:spPr>
          <a:xfrm flipH="1">
            <a:off x="3844284" y="3959515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/>
              <a:t>Resistor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5589D01-140F-46D1-A6C3-ECDF65376FD2}"/>
              </a:ext>
            </a:extLst>
          </p:cNvPr>
          <p:cNvSpPr/>
          <p:nvPr/>
        </p:nvSpPr>
        <p:spPr>
          <a:xfrm>
            <a:off x="9071107" y="3665912"/>
            <a:ext cx="1107369" cy="1107369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05B042A-3142-419E-A065-F9A1F2E0CB4F}"/>
              </a:ext>
            </a:extLst>
          </p:cNvPr>
          <p:cNvSpPr/>
          <p:nvPr/>
        </p:nvSpPr>
        <p:spPr>
          <a:xfrm>
            <a:off x="3223498" y="4667697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/>
              <a:t>Capacitor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E941BBA-C1F3-4F49-9C0B-E9FEA2935435}"/>
              </a:ext>
            </a:extLst>
          </p:cNvPr>
          <p:cNvSpPr/>
          <p:nvPr/>
        </p:nvSpPr>
        <p:spPr>
          <a:xfrm>
            <a:off x="2220447" y="4322127"/>
            <a:ext cx="1179576" cy="1179576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0" r="-10000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B67EB66-744D-4CFB-AF1E-2A0F7A2E2A95}"/>
              </a:ext>
            </a:extLst>
          </p:cNvPr>
          <p:cNvGrpSpPr/>
          <p:nvPr/>
        </p:nvGrpSpPr>
        <p:grpSpPr>
          <a:xfrm>
            <a:off x="2169356" y="7165934"/>
            <a:ext cx="9723031" cy="3849130"/>
            <a:chOff x="2169356" y="1843475"/>
            <a:chExt cx="9723031" cy="3849130"/>
          </a:xfrm>
          <a:noFill/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1C9C4CC-B8F8-43B3-815E-9B66A9045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9356" y="1843475"/>
              <a:ext cx="9723031" cy="3718242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445F471-6400-4D0D-BCF1-95BFCF917DA5}"/>
                </a:ext>
              </a:extLst>
            </p:cNvPr>
            <p:cNvSpPr/>
            <p:nvPr/>
          </p:nvSpPr>
          <p:spPr>
            <a:xfrm>
              <a:off x="2356193" y="1974363"/>
              <a:ext cx="9371539" cy="37182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55003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EA84DD-0D22-4358-BDCB-89E44731D298}"/>
              </a:ext>
            </a:extLst>
          </p:cNvPr>
          <p:cNvSpPr/>
          <p:nvPr/>
        </p:nvSpPr>
        <p:spPr>
          <a:xfrm>
            <a:off x="1793852" y="91408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Hardware Design &amp; Implementation</a:t>
            </a:r>
            <a:endParaRPr lang="en-US" sz="3300" kern="12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9F1D388-AB29-480F-9266-19D071F792D3}"/>
              </a:ext>
            </a:extLst>
          </p:cNvPr>
          <p:cNvSpPr/>
          <p:nvPr/>
        </p:nvSpPr>
        <p:spPr>
          <a:xfrm>
            <a:off x="1793852" y="888628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6761B9-EE80-4D12-8439-ECD1B6C7C36E}"/>
              </a:ext>
            </a:extLst>
          </p:cNvPr>
          <p:cNvSpPr/>
          <p:nvPr/>
        </p:nvSpPr>
        <p:spPr>
          <a:xfrm>
            <a:off x="1793852" y="7165934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Configuration &amp; Programming</a:t>
            </a:r>
            <a:endParaRPr lang="en-US" sz="3300" kern="12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7236D24-3EA2-4F03-82BB-A2C6682FE9DF}"/>
              </a:ext>
            </a:extLst>
          </p:cNvPr>
          <p:cNvSpPr/>
          <p:nvPr/>
        </p:nvSpPr>
        <p:spPr>
          <a:xfrm>
            <a:off x="1793852" y="7939921"/>
            <a:ext cx="8171950" cy="1366200"/>
          </a:xfrm>
          <a:custGeom>
            <a:avLst/>
            <a:gdLst>
              <a:gd name="connsiteX0" fmla="*/ 0 w 8171950"/>
              <a:gd name="connsiteY0" fmla="*/ 0 h 1366200"/>
              <a:gd name="connsiteX1" fmla="*/ 8171950 w 8171950"/>
              <a:gd name="connsiteY1" fmla="*/ 0 h 1366200"/>
              <a:gd name="connsiteX2" fmla="*/ 8171950 w 8171950"/>
              <a:gd name="connsiteY2" fmla="*/ 1366200 h 1366200"/>
              <a:gd name="connsiteX3" fmla="*/ 0 w 8171950"/>
              <a:gd name="connsiteY3" fmla="*/ 1366200 h 1366200"/>
              <a:gd name="connsiteX4" fmla="*/ 0 w 8171950"/>
              <a:gd name="connsiteY4" fmla="*/ 0 h 136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366200">
                <a:moveTo>
                  <a:pt x="0" y="0"/>
                </a:moveTo>
                <a:lnTo>
                  <a:pt x="8171950" y="0"/>
                </a:lnTo>
                <a:lnTo>
                  <a:pt x="8171950" y="1366200"/>
                </a:lnTo>
                <a:lnTo>
                  <a:pt x="0" y="13662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Configure</a:t>
            </a:r>
            <a:endParaRPr lang="en-US" sz="2600" kern="1200" dirty="0"/>
          </a:p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 Code</a:t>
            </a:r>
            <a:endParaRPr lang="en-US" sz="2600" kern="1200" dirty="0"/>
          </a:p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vi-VN" sz="2600" b="1" kern="1200" dirty="0"/>
              <a:t>GUI</a:t>
            </a:r>
            <a:endParaRPr lang="en-US" sz="26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2F02E-6D75-41AA-AFE1-2041436AED37}"/>
              </a:ext>
            </a:extLst>
          </p:cNvPr>
          <p:cNvSpPr/>
          <p:nvPr/>
        </p:nvSpPr>
        <p:spPr>
          <a:xfrm>
            <a:off x="1793852" y="9323639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/>
              <a:t>Result</a:t>
            </a:r>
            <a:endParaRPr lang="en-US" sz="3300" kern="12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E13B2B1-1DBD-4918-951A-A89743DB8DF5}"/>
              </a:ext>
            </a:extLst>
          </p:cNvPr>
          <p:cNvSpPr/>
          <p:nvPr/>
        </p:nvSpPr>
        <p:spPr>
          <a:xfrm>
            <a:off x="1793852" y="1366051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ABFB6C-C04B-4744-BA99-1E09B3DEFE06}"/>
              </a:ext>
            </a:extLst>
          </p:cNvPr>
          <p:cNvSpPr/>
          <p:nvPr/>
        </p:nvSpPr>
        <p:spPr>
          <a:xfrm>
            <a:off x="1793852" y="6039141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>
                <a:solidFill>
                  <a:schemeClr val="bg2">
                    <a:lumMod val="90000"/>
                  </a:schemeClr>
                </a:solidFill>
              </a:rPr>
              <a:t>Select resistor</a:t>
            </a:r>
            <a:endParaRPr lang="en-US" sz="2600" kern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4D222F4-206D-469E-98E1-E4BCF6A9BAC8}"/>
              </a:ext>
            </a:extLst>
          </p:cNvPr>
          <p:cNvSpPr/>
          <p:nvPr/>
        </p:nvSpPr>
        <p:spPr>
          <a:xfrm>
            <a:off x="1793852" y="6466591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>
                <a:solidFill>
                  <a:schemeClr val="bg2">
                    <a:lumMod val="90000"/>
                  </a:schemeClr>
                </a:solidFill>
              </a:rPr>
              <a:t>Hardware connection</a:t>
            </a:r>
            <a:endParaRPr lang="en-US" sz="2600" kern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6B7F375-D562-4C6F-AD40-EB6B0636C6DF}"/>
              </a:ext>
            </a:extLst>
          </p:cNvPr>
          <p:cNvSpPr/>
          <p:nvPr/>
        </p:nvSpPr>
        <p:spPr>
          <a:xfrm>
            <a:off x="-5706143" y="1834967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Load Cell (1Kg type)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6EF7AE8-BCB3-49D3-8AC2-1850108C389B}"/>
              </a:ext>
            </a:extLst>
          </p:cNvPr>
          <p:cNvSpPr/>
          <p:nvPr/>
        </p:nvSpPr>
        <p:spPr>
          <a:xfrm>
            <a:off x="-6850926" y="1360843"/>
            <a:ext cx="1463040" cy="1463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CEDDAF3-F578-4152-AF50-BA5F1595CE5D}"/>
              </a:ext>
            </a:extLst>
          </p:cNvPr>
          <p:cNvSpPr/>
          <p:nvPr/>
        </p:nvSpPr>
        <p:spPr>
          <a:xfrm>
            <a:off x="-5706143" y="3251332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Op-amp LM358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4092848-A8EC-44CE-A46E-B320C8D0B0BD}"/>
              </a:ext>
            </a:extLst>
          </p:cNvPr>
          <p:cNvSpPr/>
          <p:nvPr/>
        </p:nvSpPr>
        <p:spPr>
          <a:xfrm>
            <a:off x="-6703429" y="2952825"/>
            <a:ext cx="1175858" cy="117585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1A3919E-7741-4592-A2E9-FE294B658870}"/>
              </a:ext>
            </a:extLst>
          </p:cNvPr>
          <p:cNvSpPr/>
          <p:nvPr/>
        </p:nvSpPr>
        <p:spPr>
          <a:xfrm>
            <a:off x="-5706143" y="4667697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Capacitor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939B6DE-0284-4585-9D67-564DD98EA9B8}"/>
              </a:ext>
            </a:extLst>
          </p:cNvPr>
          <p:cNvSpPr/>
          <p:nvPr/>
        </p:nvSpPr>
        <p:spPr>
          <a:xfrm>
            <a:off x="-6709194" y="4322127"/>
            <a:ext cx="1179576" cy="117957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noFill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68C04D4-FAD7-4C0E-A428-04F538733321}"/>
              </a:ext>
            </a:extLst>
          </p:cNvPr>
          <p:cNvSpPr/>
          <p:nvPr/>
        </p:nvSpPr>
        <p:spPr>
          <a:xfrm flipH="1">
            <a:off x="12250723" y="2543150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KIT STM32 Blue Pill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497163B-F207-4CB6-8554-4FF1620984D0}"/>
              </a:ext>
            </a:extLst>
          </p:cNvPr>
          <p:cNvSpPr/>
          <p:nvPr/>
        </p:nvSpPr>
        <p:spPr>
          <a:xfrm>
            <a:off x="17240987" y="2106452"/>
            <a:ext cx="1463040" cy="1463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D876193-DAA6-43F2-8FF5-C77AC1B698D3}"/>
              </a:ext>
            </a:extLst>
          </p:cNvPr>
          <p:cNvSpPr/>
          <p:nvPr/>
        </p:nvSpPr>
        <p:spPr>
          <a:xfrm flipH="1">
            <a:off x="12192000" y="3959515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Resistor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1BC7E90-AA09-4596-BB03-6914BDAD92EA}"/>
              </a:ext>
            </a:extLst>
          </p:cNvPr>
          <p:cNvSpPr/>
          <p:nvPr/>
        </p:nvSpPr>
        <p:spPr>
          <a:xfrm>
            <a:off x="17418823" y="3665912"/>
            <a:ext cx="1107369" cy="110736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noFill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1B4C76-FFCF-45D1-BCCD-36FD6C53C8D8}"/>
              </a:ext>
            </a:extLst>
          </p:cNvPr>
          <p:cNvGrpSpPr/>
          <p:nvPr/>
        </p:nvGrpSpPr>
        <p:grpSpPr>
          <a:xfrm>
            <a:off x="2169356" y="1843475"/>
            <a:ext cx="9723031" cy="3849130"/>
            <a:chOff x="2169356" y="1843475"/>
            <a:chExt cx="9723031" cy="384913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07E4741-3EB8-4A0A-964B-4822D1BB6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9356" y="1843475"/>
              <a:ext cx="9723031" cy="3718242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0384AD4-BF26-45A8-9A5A-C7812A54509C}"/>
                </a:ext>
              </a:extLst>
            </p:cNvPr>
            <p:cNvSpPr/>
            <p:nvPr/>
          </p:nvSpPr>
          <p:spPr>
            <a:xfrm>
              <a:off x="2356193" y="1974363"/>
              <a:ext cx="9371539" cy="37182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8" name="Table 17">
                <a:extLst>
                  <a:ext uri="{FF2B5EF4-FFF2-40B4-BE49-F238E27FC236}">
                    <a16:creationId xmlns:a16="http://schemas.microsoft.com/office/drawing/2014/main" id="{F81C6E35-46EC-4EC5-99C7-13407B10D9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54567"/>
                  </p:ext>
                </p:extLst>
              </p:nvPr>
            </p:nvGraphicFramePr>
            <p:xfrm>
              <a:off x="2943070" y="7165934"/>
              <a:ext cx="5123970" cy="3161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61985">
                      <a:extLst>
                        <a:ext uri="{9D8B030D-6E8A-4147-A177-3AD203B41FA5}">
                          <a16:colId xmlns:a16="http://schemas.microsoft.com/office/drawing/2014/main" val="2738518006"/>
                        </a:ext>
                      </a:extLst>
                    </a:gridCol>
                    <a:gridCol w="2561985">
                      <a:extLst>
                        <a:ext uri="{9D8B030D-6E8A-4147-A177-3AD203B41FA5}">
                          <a16:colId xmlns:a16="http://schemas.microsoft.com/office/drawing/2014/main" val="546056054"/>
                        </a:ext>
                      </a:extLst>
                    </a:gridCol>
                  </a:tblGrid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𝑹𝒆𝒔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𝑽𝒂𝒍𝒖𝒆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𝛺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i="1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4048408636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470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153285747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3731354689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38058569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482880845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3492367733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220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159302237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8" name="Table 17">
                <a:extLst>
                  <a:ext uri="{FF2B5EF4-FFF2-40B4-BE49-F238E27FC236}">
                    <a16:creationId xmlns:a16="http://schemas.microsoft.com/office/drawing/2014/main" id="{F81C6E35-46EC-4EC5-99C7-13407B10D9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54567"/>
                  </p:ext>
                </p:extLst>
              </p:nvPr>
            </p:nvGraphicFramePr>
            <p:xfrm>
              <a:off x="2943070" y="7165934"/>
              <a:ext cx="5123970" cy="3161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61985">
                      <a:extLst>
                        <a:ext uri="{9D8B030D-6E8A-4147-A177-3AD203B41FA5}">
                          <a16:colId xmlns:a16="http://schemas.microsoft.com/office/drawing/2014/main" val="2738518006"/>
                        </a:ext>
                      </a:extLst>
                    </a:gridCol>
                    <a:gridCol w="2561985">
                      <a:extLst>
                        <a:ext uri="{9D8B030D-6E8A-4147-A177-3AD203B41FA5}">
                          <a16:colId xmlns:a16="http://schemas.microsoft.com/office/drawing/2014/main" val="546056054"/>
                        </a:ext>
                      </a:extLst>
                    </a:gridCol>
                  </a:tblGrid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1351" r="-100950" b="-6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1351" r="-950" b="-60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8408636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100000" r="-100950" b="-49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100000" r="-950" b="-49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285747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202703" r="-100950" b="-4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202703" r="-950" b="-40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1354689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302703" r="-100950" b="-3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302703" r="-950" b="-30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58569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402703" r="-100950" b="-2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402703" r="-950" b="-20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2880845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496000" r="-100950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496000" r="-950" b="-1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2367733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604054" r="-10095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604054" r="-950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30223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58219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EA84DD-0D22-4358-BDCB-89E44731D298}"/>
              </a:ext>
            </a:extLst>
          </p:cNvPr>
          <p:cNvSpPr/>
          <p:nvPr/>
        </p:nvSpPr>
        <p:spPr>
          <a:xfrm>
            <a:off x="1793852" y="91408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Hardware Design &amp; Implementation</a:t>
            </a:r>
            <a:endParaRPr lang="en-US" sz="3300" kern="12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9F1D388-AB29-480F-9266-19D071F792D3}"/>
              </a:ext>
            </a:extLst>
          </p:cNvPr>
          <p:cNvSpPr/>
          <p:nvPr/>
        </p:nvSpPr>
        <p:spPr>
          <a:xfrm>
            <a:off x="1793852" y="888628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6761B9-EE80-4D12-8439-ECD1B6C7C36E}"/>
              </a:ext>
            </a:extLst>
          </p:cNvPr>
          <p:cNvSpPr/>
          <p:nvPr/>
        </p:nvSpPr>
        <p:spPr>
          <a:xfrm>
            <a:off x="1793852" y="7165934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Configuration &amp; Programming</a:t>
            </a:r>
            <a:endParaRPr lang="en-US" sz="3300" kern="12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7236D24-3EA2-4F03-82BB-A2C6682FE9DF}"/>
              </a:ext>
            </a:extLst>
          </p:cNvPr>
          <p:cNvSpPr/>
          <p:nvPr/>
        </p:nvSpPr>
        <p:spPr>
          <a:xfrm>
            <a:off x="1793852" y="7939921"/>
            <a:ext cx="8171950" cy="1366200"/>
          </a:xfrm>
          <a:custGeom>
            <a:avLst/>
            <a:gdLst>
              <a:gd name="connsiteX0" fmla="*/ 0 w 8171950"/>
              <a:gd name="connsiteY0" fmla="*/ 0 h 1366200"/>
              <a:gd name="connsiteX1" fmla="*/ 8171950 w 8171950"/>
              <a:gd name="connsiteY1" fmla="*/ 0 h 1366200"/>
              <a:gd name="connsiteX2" fmla="*/ 8171950 w 8171950"/>
              <a:gd name="connsiteY2" fmla="*/ 1366200 h 1366200"/>
              <a:gd name="connsiteX3" fmla="*/ 0 w 8171950"/>
              <a:gd name="connsiteY3" fmla="*/ 1366200 h 1366200"/>
              <a:gd name="connsiteX4" fmla="*/ 0 w 8171950"/>
              <a:gd name="connsiteY4" fmla="*/ 0 h 136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366200">
                <a:moveTo>
                  <a:pt x="0" y="0"/>
                </a:moveTo>
                <a:lnTo>
                  <a:pt x="8171950" y="0"/>
                </a:lnTo>
                <a:lnTo>
                  <a:pt x="8171950" y="1366200"/>
                </a:lnTo>
                <a:lnTo>
                  <a:pt x="0" y="13662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Configure</a:t>
            </a:r>
            <a:endParaRPr lang="en-US" sz="2600" kern="1200" dirty="0"/>
          </a:p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 Code</a:t>
            </a:r>
            <a:endParaRPr lang="en-US" sz="2600" kern="1200" dirty="0"/>
          </a:p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vi-VN" sz="2600" b="1" kern="1200" dirty="0"/>
              <a:t>GUI</a:t>
            </a:r>
            <a:endParaRPr lang="en-US" sz="26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2F02E-6D75-41AA-AFE1-2041436AED37}"/>
              </a:ext>
            </a:extLst>
          </p:cNvPr>
          <p:cNvSpPr/>
          <p:nvPr/>
        </p:nvSpPr>
        <p:spPr>
          <a:xfrm>
            <a:off x="1793852" y="9323639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/>
              <a:t>Result</a:t>
            </a:r>
            <a:endParaRPr lang="en-US" sz="3300" kern="12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E13B2B1-1DBD-4918-951A-A89743DB8DF5}"/>
              </a:ext>
            </a:extLst>
          </p:cNvPr>
          <p:cNvSpPr/>
          <p:nvPr/>
        </p:nvSpPr>
        <p:spPr>
          <a:xfrm>
            <a:off x="1793852" y="1366051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ABFB6C-C04B-4744-BA99-1E09B3DEFE06}"/>
              </a:ext>
            </a:extLst>
          </p:cNvPr>
          <p:cNvSpPr/>
          <p:nvPr/>
        </p:nvSpPr>
        <p:spPr>
          <a:xfrm>
            <a:off x="1793852" y="1843475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4D222F4-206D-469E-98E1-E4BCF6A9BAC8}"/>
              </a:ext>
            </a:extLst>
          </p:cNvPr>
          <p:cNvSpPr/>
          <p:nvPr/>
        </p:nvSpPr>
        <p:spPr>
          <a:xfrm>
            <a:off x="1793852" y="6275797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>
                <a:solidFill>
                  <a:schemeClr val="bg2">
                    <a:lumMod val="90000"/>
                  </a:schemeClr>
                </a:solidFill>
              </a:rPr>
              <a:t>Hardware connection</a:t>
            </a:r>
            <a:endParaRPr lang="en-US" sz="2600" kern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68C04D4-FAD7-4C0E-A428-04F538733321}"/>
              </a:ext>
            </a:extLst>
          </p:cNvPr>
          <p:cNvSpPr/>
          <p:nvPr/>
        </p:nvSpPr>
        <p:spPr>
          <a:xfrm flipH="1">
            <a:off x="12250723" y="2543150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KIT STM32 Blue Pill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D876193-DAA6-43F2-8FF5-C77AC1B698D3}"/>
              </a:ext>
            </a:extLst>
          </p:cNvPr>
          <p:cNvSpPr/>
          <p:nvPr/>
        </p:nvSpPr>
        <p:spPr>
          <a:xfrm flipH="1">
            <a:off x="12192000" y="3959515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Resistor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DDECEFE-6F97-49D6-A02C-A73BC428A53E}"/>
              </a:ext>
            </a:extLst>
          </p:cNvPr>
          <p:cNvGrpSpPr/>
          <p:nvPr/>
        </p:nvGrpSpPr>
        <p:grpSpPr>
          <a:xfrm>
            <a:off x="2108396" y="-3947783"/>
            <a:ext cx="9723031" cy="3849130"/>
            <a:chOff x="2169356" y="1843475"/>
            <a:chExt cx="9723031" cy="3849130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DC29018-E38A-4D9F-A757-1BDC57A19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9356" y="1843475"/>
              <a:ext cx="9723031" cy="3718242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E375BB7-4151-4DC8-85F8-D2C3A1674ACF}"/>
                </a:ext>
              </a:extLst>
            </p:cNvPr>
            <p:cNvSpPr/>
            <p:nvPr/>
          </p:nvSpPr>
          <p:spPr>
            <a:xfrm>
              <a:off x="2356193" y="1974363"/>
              <a:ext cx="9371539" cy="37182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Table 17">
                <a:extLst>
                  <a:ext uri="{FF2B5EF4-FFF2-40B4-BE49-F238E27FC236}">
                    <a16:creationId xmlns:a16="http://schemas.microsoft.com/office/drawing/2014/main" id="{1E28EF5A-B150-4410-A5C5-BC68CB286F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71330"/>
                  </p:ext>
                </p:extLst>
              </p:nvPr>
            </p:nvGraphicFramePr>
            <p:xfrm>
              <a:off x="2943070" y="2500111"/>
              <a:ext cx="5123970" cy="3161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61985">
                      <a:extLst>
                        <a:ext uri="{9D8B030D-6E8A-4147-A177-3AD203B41FA5}">
                          <a16:colId xmlns:a16="http://schemas.microsoft.com/office/drawing/2014/main" val="2738518006"/>
                        </a:ext>
                      </a:extLst>
                    </a:gridCol>
                    <a:gridCol w="2561985">
                      <a:extLst>
                        <a:ext uri="{9D8B030D-6E8A-4147-A177-3AD203B41FA5}">
                          <a16:colId xmlns:a16="http://schemas.microsoft.com/office/drawing/2014/main" val="546056054"/>
                        </a:ext>
                      </a:extLst>
                    </a:gridCol>
                  </a:tblGrid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𝑹𝒆𝒔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𝑽𝒂𝒍𝒖𝒆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𝛺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i="1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4048408636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470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153285747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3731354689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38058569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482880845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3492367733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220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159302237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Table 17">
                <a:extLst>
                  <a:ext uri="{FF2B5EF4-FFF2-40B4-BE49-F238E27FC236}">
                    <a16:creationId xmlns:a16="http://schemas.microsoft.com/office/drawing/2014/main" id="{1E28EF5A-B150-4410-A5C5-BC68CB286F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71330"/>
                  </p:ext>
                </p:extLst>
              </p:nvPr>
            </p:nvGraphicFramePr>
            <p:xfrm>
              <a:off x="2943070" y="2500111"/>
              <a:ext cx="5123970" cy="3161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61985">
                      <a:extLst>
                        <a:ext uri="{9D8B030D-6E8A-4147-A177-3AD203B41FA5}">
                          <a16:colId xmlns:a16="http://schemas.microsoft.com/office/drawing/2014/main" val="2738518006"/>
                        </a:ext>
                      </a:extLst>
                    </a:gridCol>
                    <a:gridCol w="2561985">
                      <a:extLst>
                        <a:ext uri="{9D8B030D-6E8A-4147-A177-3AD203B41FA5}">
                          <a16:colId xmlns:a16="http://schemas.microsoft.com/office/drawing/2014/main" val="546056054"/>
                        </a:ext>
                      </a:extLst>
                    </a:gridCol>
                  </a:tblGrid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1351" r="-100950" b="-6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1351" r="-950" b="-60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8408636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101351" r="-100950" b="-5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101351" r="-950" b="-50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285747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201351" r="-100950" b="-4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201351" r="-950" b="-40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1354689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297333" r="-100950" b="-29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297333" r="-950" b="-29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58569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402703" r="-100950" b="-2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402703" r="-950" b="-20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2880845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502703" r="-100950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502703" r="-950" b="-10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2367733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238" t="-602703" r="-10095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3"/>
                          <a:stretch>
                            <a:fillRect l="-100238" t="-602703" r="-950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302237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5987F551-859D-4A2A-856A-B5629DD8B8C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070" y="6922189"/>
            <a:ext cx="5258129" cy="387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5395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EA84DD-0D22-4358-BDCB-89E44731D298}"/>
              </a:ext>
            </a:extLst>
          </p:cNvPr>
          <p:cNvSpPr/>
          <p:nvPr/>
        </p:nvSpPr>
        <p:spPr>
          <a:xfrm>
            <a:off x="1793852" y="91408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Hardware Design &amp; Implementation</a:t>
            </a:r>
            <a:endParaRPr lang="en-US" sz="3300" kern="12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9F1D388-AB29-480F-9266-19D071F792D3}"/>
              </a:ext>
            </a:extLst>
          </p:cNvPr>
          <p:cNvSpPr/>
          <p:nvPr/>
        </p:nvSpPr>
        <p:spPr>
          <a:xfrm>
            <a:off x="1793852" y="888628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6761B9-EE80-4D12-8439-ECD1B6C7C36E}"/>
              </a:ext>
            </a:extLst>
          </p:cNvPr>
          <p:cNvSpPr/>
          <p:nvPr/>
        </p:nvSpPr>
        <p:spPr>
          <a:xfrm>
            <a:off x="1793852" y="7165934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Configuration &amp; Programming</a:t>
            </a:r>
            <a:endParaRPr lang="en-US" sz="33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2F02E-6D75-41AA-AFE1-2041436AED37}"/>
              </a:ext>
            </a:extLst>
          </p:cNvPr>
          <p:cNvSpPr/>
          <p:nvPr/>
        </p:nvSpPr>
        <p:spPr>
          <a:xfrm>
            <a:off x="1793852" y="9323639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/>
              <a:t>Result</a:t>
            </a:r>
            <a:endParaRPr lang="en-US" sz="3300" kern="12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E13B2B1-1DBD-4918-951A-A89743DB8DF5}"/>
              </a:ext>
            </a:extLst>
          </p:cNvPr>
          <p:cNvSpPr/>
          <p:nvPr/>
        </p:nvSpPr>
        <p:spPr>
          <a:xfrm>
            <a:off x="1793852" y="1366051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ABFB6C-C04B-4744-BA99-1E09B3DEFE06}"/>
              </a:ext>
            </a:extLst>
          </p:cNvPr>
          <p:cNvSpPr/>
          <p:nvPr/>
        </p:nvSpPr>
        <p:spPr>
          <a:xfrm>
            <a:off x="1793852" y="1843475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4D222F4-206D-469E-98E1-E4BCF6A9BAC8}"/>
              </a:ext>
            </a:extLst>
          </p:cNvPr>
          <p:cNvSpPr/>
          <p:nvPr/>
        </p:nvSpPr>
        <p:spPr>
          <a:xfrm>
            <a:off x="1793852" y="2320900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68C04D4-FAD7-4C0E-A428-04F538733321}"/>
              </a:ext>
            </a:extLst>
          </p:cNvPr>
          <p:cNvSpPr/>
          <p:nvPr/>
        </p:nvSpPr>
        <p:spPr>
          <a:xfrm flipH="1">
            <a:off x="12250723" y="2543150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KIT STM32 Blue Pill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D876193-DAA6-43F2-8FF5-C77AC1B698D3}"/>
              </a:ext>
            </a:extLst>
          </p:cNvPr>
          <p:cNvSpPr/>
          <p:nvPr/>
        </p:nvSpPr>
        <p:spPr>
          <a:xfrm flipH="1">
            <a:off x="12192000" y="3959515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Resistor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Table 17">
                <a:extLst>
                  <a:ext uri="{FF2B5EF4-FFF2-40B4-BE49-F238E27FC236}">
                    <a16:creationId xmlns:a16="http://schemas.microsoft.com/office/drawing/2014/main" id="{1E28EF5A-B150-4410-A5C5-BC68CB286F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7084767"/>
                  </p:ext>
                </p:extLst>
              </p:nvPr>
            </p:nvGraphicFramePr>
            <p:xfrm>
              <a:off x="2943070" y="-3448934"/>
              <a:ext cx="5123970" cy="3161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61985">
                      <a:extLst>
                        <a:ext uri="{9D8B030D-6E8A-4147-A177-3AD203B41FA5}">
                          <a16:colId xmlns:a16="http://schemas.microsoft.com/office/drawing/2014/main" val="2738518006"/>
                        </a:ext>
                      </a:extLst>
                    </a:gridCol>
                    <a:gridCol w="2561985">
                      <a:extLst>
                        <a:ext uri="{9D8B030D-6E8A-4147-A177-3AD203B41FA5}">
                          <a16:colId xmlns:a16="http://schemas.microsoft.com/office/drawing/2014/main" val="546056054"/>
                        </a:ext>
                      </a:extLst>
                    </a:gridCol>
                  </a:tblGrid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𝑹𝒆𝒔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𝑽𝒂𝒍𝒖𝒆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𝛺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i="1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4048408636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470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153285747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3731354689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38058569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482880845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3492367733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220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marL="111347" marR="111347" marT="55673" marB="55673" anchor="ctr"/>
                    </a:tc>
                    <a:extLst>
                      <a:ext uri="{0D108BD9-81ED-4DB2-BD59-A6C34878D82A}">
                        <a16:rowId xmlns:a16="http://schemas.microsoft.com/office/drawing/2014/main" val="159302237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Table 17">
                <a:extLst>
                  <a:ext uri="{FF2B5EF4-FFF2-40B4-BE49-F238E27FC236}">
                    <a16:creationId xmlns:a16="http://schemas.microsoft.com/office/drawing/2014/main" id="{1E28EF5A-B150-4410-A5C5-BC68CB286F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7084767"/>
                  </p:ext>
                </p:extLst>
              </p:nvPr>
            </p:nvGraphicFramePr>
            <p:xfrm>
              <a:off x="2943070" y="-3448934"/>
              <a:ext cx="5123970" cy="3161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61985">
                      <a:extLst>
                        <a:ext uri="{9D8B030D-6E8A-4147-A177-3AD203B41FA5}">
                          <a16:colId xmlns:a16="http://schemas.microsoft.com/office/drawing/2014/main" val="2738518006"/>
                        </a:ext>
                      </a:extLst>
                    </a:gridCol>
                    <a:gridCol w="2561985">
                      <a:extLst>
                        <a:ext uri="{9D8B030D-6E8A-4147-A177-3AD203B41FA5}">
                          <a16:colId xmlns:a16="http://schemas.microsoft.com/office/drawing/2014/main" val="546056054"/>
                        </a:ext>
                      </a:extLst>
                    </a:gridCol>
                  </a:tblGrid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238" t="-1351" r="-100950" b="-6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100238" t="-1351" r="-950" b="-60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8408636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238" t="-101351" r="-100950" b="-5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100238" t="-101351" r="-950" b="-50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285747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238" t="-201351" r="-100950" b="-4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100238" t="-201351" r="-950" b="-40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1354689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238" t="-297333" r="-100950" b="-29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100238" t="-297333" r="-950" b="-29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58569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238" t="-402703" r="-100950" b="-2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100238" t="-402703" r="-950" b="-20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2880845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238" t="-502703" r="-100950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100238" t="-502703" r="-950" b="-10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2367733"/>
                      </a:ext>
                    </a:extLst>
                  </a:tr>
                  <a:tr h="451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238" t="-602703" r="-10095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347" marR="111347" marT="55673" marB="55673" anchor="ctr">
                        <a:blipFill>
                          <a:blip r:embed="rId2"/>
                          <a:stretch>
                            <a:fillRect l="-100238" t="-602703" r="-950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302237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E977962-DCC1-449B-8CBA-2888973B3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070" y="2815840"/>
            <a:ext cx="5258129" cy="3872669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3ADC5EA-5210-499A-BDBC-DB0970EB5B7C}"/>
              </a:ext>
            </a:extLst>
          </p:cNvPr>
          <p:cNvSpPr/>
          <p:nvPr/>
        </p:nvSpPr>
        <p:spPr>
          <a:xfrm>
            <a:off x="1793852" y="7991027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Config</a:t>
            </a:r>
            <a:endParaRPr lang="en-US" sz="2600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2457DE2-4C15-46E3-9A40-B15DE09FA99F}"/>
              </a:ext>
            </a:extLst>
          </p:cNvPr>
          <p:cNvSpPr/>
          <p:nvPr/>
        </p:nvSpPr>
        <p:spPr>
          <a:xfrm>
            <a:off x="1793852" y="8468450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 Code</a:t>
            </a:r>
            <a:endParaRPr lang="en-US" sz="2600" kern="1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F9CCD0-9CC5-440F-9B31-E37FD012F188}"/>
              </a:ext>
            </a:extLst>
          </p:cNvPr>
          <p:cNvSpPr/>
          <p:nvPr/>
        </p:nvSpPr>
        <p:spPr>
          <a:xfrm>
            <a:off x="1793852" y="8945874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vi-VN" sz="2600" b="1" kern="1200" dirty="0"/>
              <a:t>GUI</a:t>
            </a:r>
            <a:endParaRPr lang="en-US" sz="2600" kern="1200" dirty="0"/>
          </a:p>
        </p:txBody>
      </p:sp>
    </p:spTree>
    <p:extLst>
      <p:ext uri="{BB962C8B-B14F-4D97-AF65-F5344CB8AC3E}">
        <p14:creationId xmlns:p14="http://schemas.microsoft.com/office/powerpoint/2010/main" val="4291923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EA84DD-0D22-4358-BDCB-89E44731D298}"/>
              </a:ext>
            </a:extLst>
          </p:cNvPr>
          <p:cNvSpPr/>
          <p:nvPr/>
        </p:nvSpPr>
        <p:spPr>
          <a:xfrm>
            <a:off x="1793852" y="91408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Hardware Design &amp; Implementation</a:t>
            </a:r>
            <a:endParaRPr lang="en-US" sz="3300" kern="12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9F1D388-AB29-480F-9266-19D071F792D3}"/>
              </a:ext>
            </a:extLst>
          </p:cNvPr>
          <p:cNvSpPr/>
          <p:nvPr/>
        </p:nvSpPr>
        <p:spPr>
          <a:xfrm>
            <a:off x="1793852" y="-5950043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6761B9-EE80-4D12-8439-ECD1B6C7C36E}"/>
              </a:ext>
            </a:extLst>
          </p:cNvPr>
          <p:cNvSpPr/>
          <p:nvPr/>
        </p:nvSpPr>
        <p:spPr>
          <a:xfrm>
            <a:off x="1793852" y="2798324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Configuration &amp; Programming</a:t>
            </a:r>
            <a:endParaRPr lang="en-US" sz="33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2F02E-6D75-41AA-AFE1-2041436AED37}"/>
              </a:ext>
            </a:extLst>
          </p:cNvPr>
          <p:cNvSpPr/>
          <p:nvPr/>
        </p:nvSpPr>
        <p:spPr>
          <a:xfrm>
            <a:off x="1793852" y="5080631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/>
              <a:t>Result</a:t>
            </a:r>
            <a:endParaRPr lang="en-US" sz="3300" kern="12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E13B2B1-1DBD-4918-951A-A89743DB8DF5}"/>
              </a:ext>
            </a:extLst>
          </p:cNvPr>
          <p:cNvSpPr/>
          <p:nvPr/>
        </p:nvSpPr>
        <p:spPr>
          <a:xfrm>
            <a:off x="1793852" y="-5472620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ABFB6C-C04B-4744-BA99-1E09B3DEFE06}"/>
              </a:ext>
            </a:extLst>
          </p:cNvPr>
          <p:cNvSpPr/>
          <p:nvPr/>
        </p:nvSpPr>
        <p:spPr>
          <a:xfrm>
            <a:off x="1793852" y="-4995196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4D222F4-206D-469E-98E1-E4BCF6A9BAC8}"/>
              </a:ext>
            </a:extLst>
          </p:cNvPr>
          <p:cNvSpPr/>
          <p:nvPr/>
        </p:nvSpPr>
        <p:spPr>
          <a:xfrm>
            <a:off x="1793852" y="-4517771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68C04D4-FAD7-4C0E-A428-04F538733321}"/>
              </a:ext>
            </a:extLst>
          </p:cNvPr>
          <p:cNvSpPr/>
          <p:nvPr/>
        </p:nvSpPr>
        <p:spPr>
          <a:xfrm flipH="1">
            <a:off x="12250723" y="2543150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KIT STM32 Blue Pill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D876193-DAA6-43F2-8FF5-C77AC1B698D3}"/>
              </a:ext>
            </a:extLst>
          </p:cNvPr>
          <p:cNvSpPr/>
          <p:nvPr/>
        </p:nvSpPr>
        <p:spPr>
          <a:xfrm flipH="1">
            <a:off x="12192000" y="3959515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Resistor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6DE7E9A-2790-465F-8D03-740021F8BE79}"/>
              </a:ext>
            </a:extLst>
          </p:cNvPr>
          <p:cNvSpPr/>
          <p:nvPr/>
        </p:nvSpPr>
        <p:spPr>
          <a:xfrm>
            <a:off x="1793852" y="3648359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Config</a:t>
            </a:r>
            <a:endParaRPr lang="en-US" sz="2600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92EC224-198A-4BAE-9228-9B28768F8F73}"/>
              </a:ext>
            </a:extLst>
          </p:cNvPr>
          <p:cNvSpPr/>
          <p:nvPr/>
        </p:nvSpPr>
        <p:spPr>
          <a:xfrm>
            <a:off x="1793852" y="4125782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 Code</a:t>
            </a:r>
            <a:endParaRPr lang="en-US" sz="2600" kern="1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E4B92C-48A8-466E-AB15-8D536D4F62DF}"/>
              </a:ext>
            </a:extLst>
          </p:cNvPr>
          <p:cNvSpPr/>
          <p:nvPr/>
        </p:nvSpPr>
        <p:spPr>
          <a:xfrm>
            <a:off x="1793852" y="4603206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vi-VN" sz="2600" b="1" kern="1200" dirty="0"/>
              <a:t>GUI</a:t>
            </a:r>
            <a:endParaRPr lang="en-US" sz="2600" kern="1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4E362A9-07E9-448A-8078-D21D86B8542A}"/>
              </a:ext>
            </a:extLst>
          </p:cNvPr>
          <p:cNvSpPr/>
          <p:nvPr/>
        </p:nvSpPr>
        <p:spPr>
          <a:xfrm>
            <a:off x="1793852" y="888628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B837E27-7DE9-4452-B234-8D1E2DDBABE2}"/>
              </a:ext>
            </a:extLst>
          </p:cNvPr>
          <p:cNvSpPr/>
          <p:nvPr/>
        </p:nvSpPr>
        <p:spPr>
          <a:xfrm>
            <a:off x="1793852" y="1366051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CBB37E-03FE-4F31-84FC-9498687167AA}"/>
              </a:ext>
            </a:extLst>
          </p:cNvPr>
          <p:cNvSpPr/>
          <p:nvPr/>
        </p:nvSpPr>
        <p:spPr>
          <a:xfrm>
            <a:off x="1793852" y="1843475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C33FF89-D8FC-4B55-92B1-37DCC3670C5A}"/>
              </a:ext>
            </a:extLst>
          </p:cNvPr>
          <p:cNvSpPr/>
          <p:nvPr/>
        </p:nvSpPr>
        <p:spPr>
          <a:xfrm>
            <a:off x="1793852" y="2320900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5875DB3-1DDA-45B9-B362-CACA82B8B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344" y="7052818"/>
            <a:ext cx="4828965" cy="414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4134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EA84DD-0D22-4358-BDCB-89E44731D298}"/>
              </a:ext>
            </a:extLst>
          </p:cNvPr>
          <p:cNvSpPr/>
          <p:nvPr/>
        </p:nvSpPr>
        <p:spPr>
          <a:xfrm>
            <a:off x="1793852" y="-2787560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Hardware Design &amp; Implementation</a:t>
            </a:r>
            <a:endParaRPr lang="en-US" sz="3300" kern="12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9F1D388-AB29-480F-9266-19D071F792D3}"/>
              </a:ext>
            </a:extLst>
          </p:cNvPr>
          <p:cNvSpPr/>
          <p:nvPr/>
        </p:nvSpPr>
        <p:spPr>
          <a:xfrm>
            <a:off x="1793852" y="-5950043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6761B9-EE80-4D12-8439-ECD1B6C7C36E}"/>
              </a:ext>
            </a:extLst>
          </p:cNvPr>
          <p:cNvSpPr/>
          <p:nvPr/>
        </p:nvSpPr>
        <p:spPr>
          <a:xfrm>
            <a:off x="1793852" y="214313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Configuration &amp; Programming</a:t>
            </a:r>
            <a:endParaRPr lang="en-US" sz="33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2F02E-6D75-41AA-AFE1-2041436AED37}"/>
              </a:ext>
            </a:extLst>
          </p:cNvPr>
          <p:cNvSpPr/>
          <p:nvPr/>
        </p:nvSpPr>
        <p:spPr>
          <a:xfrm>
            <a:off x="1793852" y="6858000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/>
              <a:t>Result</a:t>
            </a:r>
            <a:endParaRPr lang="en-US" sz="3300" kern="12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E13B2B1-1DBD-4918-951A-A89743DB8DF5}"/>
              </a:ext>
            </a:extLst>
          </p:cNvPr>
          <p:cNvSpPr/>
          <p:nvPr/>
        </p:nvSpPr>
        <p:spPr>
          <a:xfrm>
            <a:off x="1793852" y="-5472620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ABFB6C-C04B-4744-BA99-1E09B3DEFE06}"/>
              </a:ext>
            </a:extLst>
          </p:cNvPr>
          <p:cNvSpPr/>
          <p:nvPr/>
        </p:nvSpPr>
        <p:spPr>
          <a:xfrm>
            <a:off x="1793852" y="-4995196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4D222F4-206D-469E-98E1-E4BCF6A9BAC8}"/>
              </a:ext>
            </a:extLst>
          </p:cNvPr>
          <p:cNvSpPr/>
          <p:nvPr/>
        </p:nvSpPr>
        <p:spPr>
          <a:xfrm>
            <a:off x="1793852" y="-4517771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68C04D4-FAD7-4C0E-A428-04F538733321}"/>
              </a:ext>
            </a:extLst>
          </p:cNvPr>
          <p:cNvSpPr/>
          <p:nvPr/>
        </p:nvSpPr>
        <p:spPr>
          <a:xfrm flipH="1">
            <a:off x="12250723" y="2543150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KIT STM32 Blue Pill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D876193-DAA6-43F2-8FF5-C77AC1B698D3}"/>
              </a:ext>
            </a:extLst>
          </p:cNvPr>
          <p:cNvSpPr/>
          <p:nvPr/>
        </p:nvSpPr>
        <p:spPr>
          <a:xfrm flipH="1">
            <a:off x="12192000" y="3959515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Resistor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6DE7E9A-2790-465F-8D03-740021F8BE79}"/>
              </a:ext>
            </a:extLst>
          </p:cNvPr>
          <p:cNvSpPr/>
          <p:nvPr/>
        </p:nvSpPr>
        <p:spPr>
          <a:xfrm>
            <a:off x="1793852" y="1064348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Config</a:t>
            </a:r>
            <a:endParaRPr lang="en-US" sz="2600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92EC224-198A-4BAE-9228-9B28768F8F73}"/>
              </a:ext>
            </a:extLst>
          </p:cNvPr>
          <p:cNvSpPr/>
          <p:nvPr/>
        </p:nvSpPr>
        <p:spPr>
          <a:xfrm>
            <a:off x="1793852" y="5911795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>
                <a:solidFill>
                  <a:schemeClr val="bg2">
                    <a:lumMod val="90000"/>
                  </a:schemeClr>
                </a:solidFill>
              </a:rPr>
              <a:t>C Code</a:t>
            </a:r>
            <a:endParaRPr lang="en-US" sz="2600" kern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E4B92C-48A8-466E-AB15-8D536D4F62DF}"/>
              </a:ext>
            </a:extLst>
          </p:cNvPr>
          <p:cNvSpPr/>
          <p:nvPr/>
        </p:nvSpPr>
        <p:spPr>
          <a:xfrm>
            <a:off x="1793852" y="6389219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vi-VN" sz="2600" b="1" kern="1200" dirty="0">
                <a:solidFill>
                  <a:schemeClr val="bg2">
                    <a:lumMod val="9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</a:t>
            </a:r>
            <a:endParaRPr lang="en-US" sz="2600" kern="1200" dirty="0">
              <a:solidFill>
                <a:schemeClr val="bg2">
                  <a:lumMod val="9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4E362A9-07E9-448A-8078-D21D86B8542A}"/>
              </a:ext>
            </a:extLst>
          </p:cNvPr>
          <p:cNvSpPr/>
          <p:nvPr/>
        </p:nvSpPr>
        <p:spPr>
          <a:xfrm>
            <a:off x="1793852" y="-1990340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B837E27-7DE9-4452-B234-8D1E2DDBABE2}"/>
              </a:ext>
            </a:extLst>
          </p:cNvPr>
          <p:cNvSpPr/>
          <p:nvPr/>
        </p:nvSpPr>
        <p:spPr>
          <a:xfrm>
            <a:off x="1793852" y="-1512917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CBB37E-03FE-4F31-84FC-9498687167AA}"/>
              </a:ext>
            </a:extLst>
          </p:cNvPr>
          <p:cNvSpPr/>
          <p:nvPr/>
        </p:nvSpPr>
        <p:spPr>
          <a:xfrm>
            <a:off x="1793852" y="-1035493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C33FF89-D8FC-4B55-92B1-37DCC3670C5A}"/>
              </a:ext>
            </a:extLst>
          </p:cNvPr>
          <p:cNvSpPr/>
          <p:nvPr/>
        </p:nvSpPr>
        <p:spPr>
          <a:xfrm>
            <a:off x="1793852" y="-558068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3A2C87-CB5F-4DE8-A8CC-447404A54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344" y="1541771"/>
            <a:ext cx="4828965" cy="414136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AB3A7D-CD9A-44ED-AD0A-2C678D15C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390" y="7253752"/>
            <a:ext cx="5761219" cy="37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424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EA84DD-0D22-4358-BDCB-89E44731D298}"/>
              </a:ext>
            </a:extLst>
          </p:cNvPr>
          <p:cNvSpPr/>
          <p:nvPr/>
        </p:nvSpPr>
        <p:spPr>
          <a:xfrm>
            <a:off x="1793852" y="-2787560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Hardware Design &amp; Implementation</a:t>
            </a:r>
            <a:endParaRPr lang="en-US" sz="3300" kern="12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9F1D388-AB29-480F-9266-19D071F792D3}"/>
              </a:ext>
            </a:extLst>
          </p:cNvPr>
          <p:cNvSpPr/>
          <p:nvPr/>
        </p:nvSpPr>
        <p:spPr>
          <a:xfrm>
            <a:off x="1793852" y="-5950043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6761B9-EE80-4D12-8439-ECD1B6C7C36E}"/>
              </a:ext>
            </a:extLst>
          </p:cNvPr>
          <p:cNvSpPr/>
          <p:nvPr/>
        </p:nvSpPr>
        <p:spPr>
          <a:xfrm>
            <a:off x="1793852" y="214313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Configuration &amp; Programming</a:t>
            </a:r>
            <a:endParaRPr lang="en-US" sz="33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2F02E-6D75-41AA-AFE1-2041436AED37}"/>
              </a:ext>
            </a:extLst>
          </p:cNvPr>
          <p:cNvSpPr/>
          <p:nvPr/>
        </p:nvSpPr>
        <p:spPr>
          <a:xfrm>
            <a:off x="1793852" y="6858000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/>
              <a:t>Result</a:t>
            </a:r>
            <a:endParaRPr lang="en-US" sz="3300" kern="12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E13B2B1-1DBD-4918-951A-A89743DB8DF5}"/>
              </a:ext>
            </a:extLst>
          </p:cNvPr>
          <p:cNvSpPr/>
          <p:nvPr/>
        </p:nvSpPr>
        <p:spPr>
          <a:xfrm>
            <a:off x="1793852" y="-5472620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ABFB6C-C04B-4744-BA99-1E09B3DEFE06}"/>
              </a:ext>
            </a:extLst>
          </p:cNvPr>
          <p:cNvSpPr/>
          <p:nvPr/>
        </p:nvSpPr>
        <p:spPr>
          <a:xfrm>
            <a:off x="1793852" y="-4995196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4D222F4-206D-469E-98E1-E4BCF6A9BAC8}"/>
              </a:ext>
            </a:extLst>
          </p:cNvPr>
          <p:cNvSpPr/>
          <p:nvPr/>
        </p:nvSpPr>
        <p:spPr>
          <a:xfrm>
            <a:off x="1793852" y="-4517771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68C04D4-FAD7-4C0E-A428-04F538733321}"/>
              </a:ext>
            </a:extLst>
          </p:cNvPr>
          <p:cNvSpPr/>
          <p:nvPr/>
        </p:nvSpPr>
        <p:spPr>
          <a:xfrm flipH="1">
            <a:off x="12250723" y="2543150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KIT STM32 Blue Pill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D876193-DAA6-43F2-8FF5-C77AC1B698D3}"/>
              </a:ext>
            </a:extLst>
          </p:cNvPr>
          <p:cNvSpPr/>
          <p:nvPr/>
        </p:nvSpPr>
        <p:spPr>
          <a:xfrm flipH="1">
            <a:off x="12192000" y="3959515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Resistor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6DE7E9A-2790-465F-8D03-740021F8BE79}"/>
              </a:ext>
            </a:extLst>
          </p:cNvPr>
          <p:cNvSpPr/>
          <p:nvPr/>
        </p:nvSpPr>
        <p:spPr>
          <a:xfrm>
            <a:off x="1793852" y="1064348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Config</a:t>
            </a:r>
            <a:endParaRPr lang="en-US" sz="2600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92EC224-198A-4BAE-9228-9B28768F8F73}"/>
              </a:ext>
            </a:extLst>
          </p:cNvPr>
          <p:cNvSpPr/>
          <p:nvPr/>
        </p:nvSpPr>
        <p:spPr>
          <a:xfrm>
            <a:off x="1793852" y="1570196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 Code</a:t>
            </a:r>
            <a:endParaRPr lang="en-US" sz="2600" kern="1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E4B92C-48A8-466E-AB15-8D536D4F62DF}"/>
              </a:ext>
            </a:extLst>
          </p:cNvPr>
          <p:cNvSpPr/>
          <p:nvPr/>
        </p:nvSpPr>
        <p:spPr>
          <a:xfrm>
            <a:off x="1793852" y="6389219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vi-VN" sz="2600" b="1" kern="1200" dirty="0">
                <a:solidFill>
                  <a:schemeClr val="bg2">
                    <a:lumMod val="90000"/>
                  </a:schemeClr>
                </a:solidFill>
              </a:rPr>
              <a:t>GUI</a:t>
            </a:r>
            <a:endParaRPr lang="en-US" sz="2600" kern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4E362A9-07E9-448A-8078-D21D86B8542A}"/>
              </a:ext>
            </a:extLst>
          </p:cNvPr>
          <p:cNvSpPr/>
          <p:nvPr/>
        </p:nvSpPr>
        <p:spPr>
          <a:xfrm>
            <a:off x="1793852" y="-1990340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B837E27-7DE9-4452-B234-8D1E2DDBABE2}"/>
              </a:ext>
            </a:extLst>
          </p:cNvPr>
          <p:cNvSpPr/>
          <p:nvPr/>
        </p:nvSpPr>
        <p:spPr>
          <a:xfrm>
            <a:off x="1793852" y="-1512917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CBB37E-03FE-4F31-84FC-9498687167AA}"/>
              </a:ext>
            </a:extLst>
          </p:cNvPr>
          <p:cNvSpPr/>
          <p:nvPr/>
        </p:nvSpPr>
        <p:spPr>
          <a:xfrm>
            <a:off x="1793852" y="-1035493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C33FF89-D8FC-4B55-92B1-37DCC3670C5A}"/>
              </a:ext>
            </a:extLst>
          </p:cNvPr>
          <p:cNvSpPr/>
          <p:nvPr/>
        </p:nvSpPr>
        <p:spPr>
          <a:xfrm>
            <a:off x="1793852" y="-558068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3A2C87-CB5F-4DE8-A8CC-447404A54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1193" y="1508185"/>
            <a:ext cx="4828965" cy="41413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36C69B5-AA3E-4EDB-AF5A-F7D4A1BC5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390" y="2126384"/>
            <a:ext cx="5761219" cy="375698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EBFFABB-0A05-4483-B5D9-7D7694BC01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62403" y="2222533"/>
            <a:ext cx="5117081" cy="366083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C4DAD11-1C15-4B5C-AE5D-C0EE83A997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66402" y="2694569"/>
            <a:ext cx="5581160" cy="301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9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EA84DD-0D22-4358-BDCB-89E44731D298}"/>
              </a:ext>
            </a:extLst>
          </p:cNvPr>
          <p:cNvSpPr/>
          <p:nvPr/>
        </p:nvSpPr>
        <p:spPr>
          <a:xfrm>
            <a:off x="1793852" y="-2787560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Hardware Design &amp; Implementation</a:t>
            </a:r>
            <a:endParaRPr lang="en-US" sz="3300" kern="12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9F1D388-AB29-480F-9266-19D071F792D3}"/>
              </a:ext>
            </a:extLst>
          </p:cNvPr>
          <p:cNvSpPr/>
          <p:nvPr/>
        </p:nvSpPr>
        <p:spPr>
          <a:xfrm>
            <a:off x="1793852" y="-5950043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6761B9-EE80-4D12-8439-ECD1B6C7C36E}"/>
              </a:ext>
            </a:extLst>
          </p:cNvPr>
          <p:cNvSpPr/>
          <p:nvPr/>
        </p:nvSpPr>
        <p:spPr>
          <a:xfrm>
            <a:off x="1793852" y="214313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Configuration &amp; Programming</a:t>
            </a:r>
            <a:endParaRPr lang="en-US" sz="33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2F02E-6D75-41AA-AFE1-2041436AED37}"/>
              </a:ext>
            </a:extLst>
          </p:cNvPr>
          <p:cNvSpPr/>
          <p:nvPr/>
        </p:nvSpPr>
        <p:spPr>
          <a:xfrm>
            <a:off x="1793852" y="6858000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/>
              <a:t>Result</a:t>
            </a:r>
            <a:endParaRPr lang="en-US" sz="3300" kern="12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E13B2B1-1DBD-4918-951A-A89743DB8DF5}"/>
              </a:ext>
            </a:extLst>
          </p:cNvPr>
          <p:cNvSpPr/>
          <p:nvPr/>
        </p:nvSpPr>
        <p:spPr>
          <a:xfrm>
            <a:off x="1793852" y="-5472620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ABFB6C-C04B-4744-BA99-1E09B3DEFE06}"/>
              </a:ext>
            </a:extLst>
          </p:cNvPr>
          <p:cNvSpPr/>
          <p:nvPr/>
        </p:nvSpPr>
        <p:spPr>
          <a:xfrm>
            <a:off x="1793852" y="-4995196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4D222F4-206D-469E-98E1-E4BCF6A9BAC8}"/>
              </a:ext>
            </a:extLst>
          </p:cNvPr>
          <p:cNvSpPr/>
          <p:nvPr/>
        </p:nvSpPr>
        <p:spPr>
          <a:xfrm>
            <a:off x="1793852" y="-4517771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68C04D4-FAD7-4C0E-A428-04F538733321}"/>
              </a:ext>
            </a:extLst>
          </p:cNvPr>
          <p:cNvSpPr/>
          <p:nvPr/>
        </p:nvSpPr>
        <p:spPr>
          <a:xfrm flipH="1">
            <a:off x="12250723" y="2543150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KIT STM32 Blue Pill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D876193-DAA6-43F2-8FF5-C77AC1B698D3}"/>
              </a:ext>
            </a:extLst>
          </p:cNvPr>
          <p:cNvSpPr/>
          <p:nvPr/>
        </p:nvSpPr>
        <p:spPr>
          <a:xfrm flipH="1">
            <a:off x="12192000" y="3959515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Resistor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6DE7E9A-2790-465F-8D03-740021F8BE79}"/>
              </a:ext>
            </a:extLst>
          </p:cNvPr>
          <p:cNvSpPr/>
          <p:nvPr/>
        </p:nvSpPr>
        <p:spPr>
          <a:xfrm>
            <a:off x="1793852" y="1064348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Config</a:t>
            </a:r>
            <a:endParaRPr lang="en-US" sz="2600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92EC224-198A-4BAE-9228-9B28768F8F73}"/>
              </a:ext>
            </a:extLst>
          </p:cNvPr>
          <p:cNvSpPr/>
          <p:nvPr/>
        </p:nvSpPr>
        <p:spPr>
          <a:xfrm>
            <a:off x="1793852" y="1570196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 Code</a:t>
            </a:r>
            <a:endParaRPr lang="en-US" sz="2600" kern="1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E4B92C-48A8-466E-AB15-8D536D4F62DF}"/>
              </a:ext>
            </a:extLst>
          </p:cNvPr>
          <p:cNvSpPr/>
          <p:nvPr/>
        </p:nvSpPr>
        <p:spPr>
          <a:xfrm>
            <a:off x="1793852" y="6389219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vi-VN" sz="2600" b="1" kern="1200" dirty="0">
                <a:solidFill>
                  <a:schemeClr val="bg2">
                    <a:lumMod val="90000"/>
                  </a:schemeClr>
                </a:solidFill>
              </a:rPr>
              <a:t>GUI</a:t>
            </a:r>
            <a:endParaRPr lang="en-US" sz="2600" kern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4E362A9-07E9-448A-8078-D21D86B8542A}"/>
              </a:ext>
            </a:extLst>
          </p:cNvPr>
          <p:cNvSpPr/>
          <p:nvPr/>
        </p:nvSpPr>
        <p:spPr>
          <a:xfrm>
            <a:off x="1793852" y="-1990340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B837E27-7DE9-4452-B234-8D1E2DDBABE2}"/>
              </a:ext>
            </a:extLst>
          </p:cNvPr>
          <p:cNvSpPr/>
          <p:nvPr/>
        </p:nvSpPr>
        <p:spPr>
          <a:xfrm>
            <a:off x="1793852" y="-1512917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CBB37E-03FE-4F31-84FC-9498687167AA}"/>
              </a:ext>
            </a:extLst>
          </p:cNvPr>
          <p:cNvSpPr/>
          <p:nvPr/>
        </p:nvSpPr>
        <p:spPr>
          <a:xfrm>
            <a:off x="1793852" y="-1035493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C33FF89-D8FC-4B55-92B1-37DCC3670C5A}"/>
              </a:ext>
            </a:extLst>
          </p:cNvPr>
          <p:cNvSpPr/>
          <p:nvPr/>
        </p:nvSpPr>
        <p:spPr>
          <a:xfrm>
            <a:off x="1793852" y="-558068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C4E45B6-C6D7-43F6-A5E9-D313633CB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3043" y="2126384"/>
            <a:ext cx="5761219" cy="375698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C7BE1BB-7A4F-4912-83EF-055613586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879" y="2222533"/>
            <a:ext cx="5117081" cy="366083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AE0F031-268A-4C3A-9CBB-CFCD7E81E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880" y="2694569"/>
            <a:ext cx="5581160" cy="301411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6FB5BCA-F54B-4737-A506-E07EAC29F0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095" y="8986517"/>
            <a:ext cx="7771809" cy="414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70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EA84DD-0D22-4358-BDCB-89E44731D298}"/>
              </a:ext>
            </a:extLst>
          </p:cNvPr>
          <p:cNvSpPr/>
          <p:nvPr/>
        </p:nvSpPr>
        <p:spPr>
          <a:xfrm>
            <a:off x="1793852" y="-2787560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Hardware Design &amp; Implementation</a:t>
            </a:r>
            <a:endParaRPr lang="en-US" sz="3300" kern="12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9F1D388-AB29-480F-9266-19D071F792D3}"/>
              </a:ext>
            </a:extLst>
          </p:cNvPr>
          <p:cNvSpPr/>
          <p:nvPr/>
        </p:nvSpPr>
        <p:spPr>
          <a:xfrm>
            <a:off x="1793852" y="-5950043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6761B9-EE80-4D12-8439-ECD1B6C7C36E}"/>
              </a:ext>
            </a:extLst>
          </p:cNvPr>
          <p:cNvSpPr/>
          <p:nvPr/>
        </p:nvSpPr>
        <p:spPr>
          <a:xfrm>
            <a:off x="1793852" y="214313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Configuration &amp; Programming</a:t>
            </a:r>
            <a:endParaRPr lang="en-US" sz="33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2F02E-6D75-41AA-AFE1-2041436AED37}"/>
              </a:ext>
            </a:extLst>
          </p:cNvPr>
          <p:cNvSpPr/>
          <p:nvPr/>
        </p:nvSpPr>
        <p:spPr>
          <a:xfrm>
            <a:off x="1793852" y="6858000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/>
              <a:t>Result</a:t>
            </a:r>
            <a:endParaRPr lang="en-US" sz="3300" kern="12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E13B2B1-1DBD-4918-951A-A89743DB8DF5}"/>
              </a:ext>
            </a:extLst>
          </p:cNvPr>
          <p:cNvSpPr/>
          <p:nvPr/>
        </p:nvSpPr>
        <p:spPr>
          <a:xfrm>
            <a:off x="1793852" y="-5472620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ABFB6C-C04B-4744-BA99-1E09B3DEFE06}"/>
              </a:ext>
            </a:extLst>
          </p:cNvPr>
          <p:cNvSpPr/>
          <p:nvPr/>
        </p:nvSpPr>
        <p:spPr>
          <a:xfrm>
            <a:off x="1793852" y="-4995196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4D222F4-206D-469E-98E1-E4BCF6A9BAC8}"/>
              </a:ext>
            </a:extLst>
          </p:cNvPr>
          <p:cNvSpPr/>
          <p:nvPr/>
        </p:nvSpPr>
        <p:spPr>
          <a:xfrm>
            <a:off x="1793852" y="-4517771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68C04D4-FAD7-4C0E-A428-04F538733321}"/>
              </a:ext>
            </a:extLst>
          </p:cNvPr>
          <p:cNvSpPr/>
          <p:nvPr/>
        </p:nvSpPr>
        <p:spPr>
          <a:xfrm flipH="1">
            <a:off x="12250723" y="2543150"/>
            <a:ext cx="5434346" cy="545383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KIT STM32 Blue Pill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D876193-DAA6-43F2-8FF5-C77AC1B698D3}"/>
              </a:ext>
            </a:extLst>
          </p:cNvPr>
          <p:cNvSpPr/>
          <p:nvPr/>
        </p:nvSpPr>
        <p:spPr>
          <a:xfrm flipH="1">
            <a:off x="12192000" y="3959515"/>
            <a:ext cx="5434346" cy="545382"/>
          </a:xfrm>
          <a:custGeom>
            <a:avLst/>
            <a:gdLst>
              <a:gd name="connsiteX0" fmla="*/ 0 w 5434346"/>
              <a:gd name="connsiteY0" fmla="*/ 0 h 545381"/>
              <a:gd name="connsiteX1" fmla="*/ 5161656 w 5434346"/>
              <a:gd name="connsiteY1" fmla="*/ 0 h 545381"/>
              <a:gd name="connsiteX2" fmla="*/ 5434346 w 5434346"/>
              <a:gd name="connsiteY2" fmla="*/ 272691 h 545381"/>
              <a:gd name="connsiteX3" fmla="*/ 5161656 w 5434346"/>
              <a:gd name="connsiteY3" fmla="*/ 545381 h 545381"/>
              <a:gd name="connsiteX4" fmla="*/ 0 w 5434346"/>
              <a:gd name="connsiteY4" fmla="*/ 545381 h 545381"/>
              <a:gd name="connsiteX5" fmla="*/ 0 w 5434346"/>
              <a:gd name="connsiteY5" fmla="*/ 0 h 5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4346" h="545381">
                <a:moveTo>
                  <a:pt x="5434346" y="545380"/>
                </a:moveTo>
                <a:lnTo>
                  <a:pt x="272690" y="545380"/>
                </a:lnTo>
                <a:lnTo>
                  <a:pt x="0" y="272690"/>
                </a:lnTo>
                <a:lnTo>
                  <a:pt x="272690" y="1"/>
                </a:lnTo>
                <a:lnTo>
                  <a:pt x="5434346" y="1"/>
                </a:lnTo>
                <a:lnTo>
                  <a:pt x="5434346" y="54538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6843" tIns="95251" rIns="177800" bIns="952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>
                <a:noFill/>
              </a:rPr>
              <a:t>Resistor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6DE7E9A-2790-465F-8D03-740021F8BE79}"/>
              </a:ext>
            </a:extLst>
          </p:cNvPr>
          <p:cNvSpPr/>
          <p:nvPr/>
        </p:nvSpPr>
        <p:spPr>
          <a:xfrm>
            <a:off x="1793852" y="1064348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Config</a:t>
            </a:r>
            <a:endParaRPr lang="en-US" sz="2600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92EC224-198A-4BAE-9228-9B28768F8F73}"/>
              </a:ext>
            </a:extLst>
          </p:cNvPr>
          <p:cNvSpPr/>
          <p:nvPr/>
        </p:nvSpPr>
        <p:spPr>
          <a:xfrm>
            <a:off x="1793852" y="1570196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 Code</a:t>
            </a:r>
            <a:endParaRPr lang="en-US" sz="2600" kern="1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E4B92C-48A8-466E-AB15-8D536D4F62DF}"/>
              </a:ext>
            </a:extLst>
          </p:cNvPr>
          <p:cNvSpPr/>
          <p:nvPr/>
        </p:nvSpPr>
        <p:spPr>
          <a:xfrm>
            <a:off x="1793852" y="2014034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vi-VN" sz="26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</a:t>
            </a:r>
            <a:endParaRPr lang="en-US" sz="2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4E362A9-07E9-448A-8078-D21D86B8542A}"/>
              </a:ext>
            </a:extLst>
          </p:cNvPr>
          <p:cNvSpPr/>
          <p:nvPr/>
        </p:nvSpPr>
        <p:spPr>
          <a:xfrm>
            <a:off x="1793852" y="-1990340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B837E27-7DE9-4452-B234-8D1E2DDBABE2}"/>
              </a:ext>
            </a:extLst>
          </p:cNvPr>
          <p:cNvSpPr/>
          <p:nvPr/>
        </p:nvSpPr>
        <p:spPr>
          <a:xfrm>
            <a:off x="1793852" y="-1512917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CBB37E-03FE-4F31-84FC-9498687167AA}"/>
              </a:ext>
            </a:extLst>
          </p:cNvPr>
          <p:cNvSpPr/>
          <p:nvPr/>
        </p:nvSpPr>
        <p:spPr>
          <a:xfrm>
            <a:off x="1793852" y="-1035493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C33FF89-D8FC-4B55-92B1-37DCC3670C5A}"/>
              </a:ext>
            </a:extLst>
          </p:cNvPr>
          <p:cNvSpPr/>
          <p:nvPr/>
        </p:nvSpPr>
        <p:spPr>
          <a:xfrm>
            <a:off x="1793852" y="-558068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C7BE1BB-7A4F-4912-83EF-055613586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265" y="2222533"/>
            <a:ext cx="5117081" cy="366083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AE0F031-268A-4C3A-9CBB-CFCD7E81E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5266" y="2694569"/>
            <a:ext cx="5581160" cy="30141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73CE59-0F58-4C85-A6A4-DB1347437E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095" y="2500908"/>
            <a:ext cx="7771809" cy="414277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AE817BD-E46E-4C72-90AC-E17BD6E69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3043" y="2222533"/>
            <a:ext cx="5117081" cy="366083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2FAF4F5-DBC5-44CE-BD1D-C220D507D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044" y="2694569"/>
            <a:ext cx="5581160" cy="30141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DA5F654-34FA-4927-BD74-282145A7F6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257" y="8112597"/>
            <a:ext cx="9549486" cy="515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504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EA84DD-0D22-4358-BDCB-89E44731D298}"/>
              </a:ext>
            </a:extLst>
          </p:cNvPr>
          <p:cNvSpPr/>
          <p:nvPr/>
        </p:nvSpPr>
        <p:spPr>
          <a:xfrm>
            <a:off x="1793852" y="-5292325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Hardware Design &amp; Implementation</a:t>
            </a:r>
            <a:endParaRPr lang="en-US" sz="33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6761B9-EE80-4D12-8439-ECD1B6C7C36E}"/>
              </a:ext>
            </a:extLst>
          </p:cNvPr>
          <p:cNvSpPr/>
          <p:nvPr/>
        </p:nvSpPr>
        <p:spPr>
          <a:xfrm>
            <a:off x="1793852" y="-2290452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Configuration &amp; Programming</a:t>
            </a:r>
            <a:endParaRPr lang="en-US" sz="33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2F02E-6D75-41AA-AFE1-2041436AED37}"/>
              </a:ext>
            </a:extLst>
          </p:cNvPr>
          <p:cNvSpPr/>
          <p:nvPr/>
        </p:nvSpPr>
        <p:spPr>
          <a:xfrm>
            <a:off x="1793852" y="396946"/>
            <a:ext cx="8171950" cy="791505"/>
          </a:xfrm>
          <a:custGeom>
            <a:avLst/>
            <a:gdLst>
              <a:gd name="connsiteX0" fmla="*/ 0 w 8171950"/>
              <a:gd name="connsiteY0" fmla="*/ 131920 h 791505"/>
              <a:gd name="connsiteX1" fmla="*/ 131920 w 8171950"/>
              <a:gd name="connsiteY1" fmla="*/ 0 h 791505"/>
              <a:gd name="connsiteX2" fmla="*/ 8040030 w 8171950"/>
              <a:gd name="connsiteY2" fmla="*/ 0 h 791505"/>
              <a:gd name="connsiteX3" fmla="*/ 8171950 w 8171950"/>
              <a:gd name="connsiteY3" fmla="*/ 131920 h 791505"/>
              <a:gd name="connsiteX4" fmla="*/ 8171950 w 8171950"/>
              <a:gd name="connsiteY4" fmla="*/ 659585 h 791505"/>
              <a:gd name="connsiteX5" fmla="*/ 8040030 w 8171950"/>
              <a:gd name="connsiteY5" fmla="*/ 791505 h 791505"/>
              <a:gd name="connsiteX6" fmla="*/ 131920 w 8171950"/>
              <a:gd name="connsiteY6" fmla="*/ 791505 h 791505"/>
              <a:gd name="connsiteX7" fmla="*/ 0 w 8171950"/>
              <a:gd name="connsiteY7" fmla="*/ 659585 h 791505"/>
              <a:gd name="connsiteX8" fmla="*/ 0 w 8171950"/>
              <a:gd name="connsiteY8" fmla="*/ 131920 h 79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71950" h="791505">
                <a:moveTo>
                  <a:pt x="0" y="131920"/>
                </a:moveTo>
                <a:cubicBezTo>
                  <a:pt x="0" y="59063"/>
                  <a:pt x="59063" y="0"/>
                  <a:pt x="131920" y="0"/>
                </a:cubicBezTo>
                <a:lnTo>
                  <a:pt x="8040030" y="0"/>
                </a:lnTo>
                <a:cubicBezTo>
                  <a:pt x="8112887" y="0"/>
                  <a:pt x="8171950" y="59063"/>
                  <a:pt x="8171950" y="131920"/>
                </a:cubicBezTo>
                <a:lnTo>
                  <a:pt x="8171950" y="659585"/>
                </a:lnTo>
                <a:cubicBezTo>
                  <a:pt x="8171950" y="732442"/>
                  <a:pt x="8112887" y="791505"/>
                  <a:pt x="8040030" y="791505"/>
                </a:cubicBezTo>
                <a:lnTo>
                  <a:pt x="131920" y="791505"/>
                </a:lnTo>
                <a:cubicBezTo>
                  <a:pt x="59063" y="791505"/>
                  <a:pt x="0" y="732442"/>
                  <a:pt x="0" y="659585"/>
                </a:cubicBezTo>
                <a:lnTo>
                  <a:pt x="0" y="13192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368" tIns="164368" rIns="164368" bIns="164368" numCol="1" spcCol="1270" anchor="ctr" anchorCtr="0">
            <a:noAutofit/>
          </a:bodyPr>
          <a:lstStyle/>
          <a:p>
            <a:pPr marL="0" lvl="0" indent="0" algn="l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Result</a:t>
            </a:r>
            <a:endParaRPr lang="en-US" sz="3300" kern="120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6DE7E9A-2790-465F-8D03-740021F8BE79}"/>
              </a:ext>
            </a:extLst>
          </p:cNvPr>
          <p:cNvSpPr/>
          <p:nvPr/>
        </p:nvSpPr>
        <p:spPr>
          <a:xfrm>
            <a:off x="1793852" y="-1440417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Configure</a:t>
            </a:r>
            <a:endParaRPr lang="en-US" sz="2600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92EC224-198A-4BAE-9228-9B28768F8F73}"/>
              </a:ext>
            </a:extLst>
          </p:cNvPr>
          <p:cNvSpPr/>
          <p:nvPr/>
        </p:nvSpPr>
        <p:spPr>
          <a:xfrm>
            <a:off x="1793852" y="-934569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C Code</a:t>
            </a:r>
            <a:endParaRPr lang="en-US" sz="2600" kern="1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E4B92C-48A8-466E-AB15-8D536D4F62DF}"/>
              </a:ext>
            </a:extLst>
          </p:cNvPr>
          <p:cNvSpPr/>
          <p:nvPr/>
        </p:nvSpPr>
        <p:spPr>
          <a:xfrm>
            <a:off x="1793852" y="-490731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vi-VN" sz="26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</a:t>
            </a:r>
            <a:endParaRPr lang="en-US" sz="2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4E362A9-07E9-448A-8078-D21D86B8542A}"/>
              </a:ext>
            </a:extLst>
          </p:cNvPr>
          <p:cNvSpPr/>
          <p:nvPr/>
        </p:nvSpPr>
        <p:spPr>
          <a:xfrm>
            <a:off x="1793852" y="-4495105"/>
            <a:ext cx="8171950" cy="443837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Preparation</a:t>
            </a:r>
            <a:endParaRPr lang="en-US" sz="2600" kern="12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B837E27-7DE9-4452-B234-8D1E2DDBABE2}"/>
              </a:ext>
            </a:extLst>
          </p:cNvPr>
          <p:cNvSpPr/>
          <p:nvPr/>
        </p:nvSpPr>
        <p:spPr>
          <a:xfrm>
            <a:off x="1793852" y="-4017682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Wiring</a:t>
            </a:r>
            <a:endParaRPr lang="en-US" sz="2600" kern="120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CBB37E-03FE-4F31-84FC-9498687167AA}"/>
              </a:ext>
            </a:extLst>
          </p:cNvPr>
          <p:cNvSpPr/>
          <p:nvPr/>
        </p:nvSpPr>
        <p:spPr>
          <a:xfrm>
            <a:off x="1793852" y="-3540258"/>
            <a:ext cx="8171950" cy="443839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Select resistor</a:t>
            </a:r>
            <a:endParaRPr lang="en-US" sz="2600" kern="120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C33FF89-D8FC-4B55-92B1-37DCC3670C5A}"/>
              </a:ext>
            </a:extLst>
          </p:cNvPr>
          <p:cNvSpPr/>
          <p:nvPr/>
        </p:nvSpPr>
        <p:spPr>
          <a:xfrm>
            <a:off x="1793852" y="-3062833"/>
            <a:ext cx="8171950" cy="443838"/>
          </a:xfrm>
          <a:custGeom>
            <a:avLst/>
            <a:gdLst>
              <a:gd name="connsiteX0" fmla="*/ 0 w 8171950"/>
              <a:gd name="connsiteY0" fmla="*/ 0 h 1810215"/>
              <a:gd name="connsiteX1" fmla="*/ 8171950 w 8171950"/>
              <a:gd name="connsiteY1" fmla="*/ 0 h 1810215"/>
              <a:gd name="connsiteX2" fmla="*/ 8171950 w 8171950"/>
              <a:gd name="connsiteY2" fmla="*/ 1810215 h 1810215"/>
              <a:gd name="connsiteX3" fmla="*/ 0 w 8171950"/>
              <a:gd name="connsiteY3" fmla="*/ 1810215 h 1810215"/>
              <a:gd name="connsiteX4" fmla="*/ 0 w 8171950"/>
              <a:gd name="connsiteY4" fmla="*/ 0 h 181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1950" h="1810215">
                <a:moveTo>
                  <a:pt x="0" y="0"/>
                </a:moveTo>
                <a:lnTo>
                  <a:pt x="8171950" y="0"/>
                </a:lnTo>
                <a:lnTo>
                  <a:pt x="8171950" y="1810215"/>
                </a:lnTo>
                <a:lnTo>
                  <a:pt x="0" y="18102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9459" tIns="41910" rIns="234696" bIns="41910" numCol="1" spcCol="1270" anchor="t" anchorCtr="0">
            <a:no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600" b="1" kern="1200" dirty="0"/>
              <a:t>Hardware connection</a:t>
            </a:r>
            <a:endParaRPr lang="en-US" sz="2600" kern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BF5E677-FAB3-4DE7-B721-6A69450FD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257" y="1304053"/>
            <a:ext cx="9549486" cy="515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08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385</Words>
  <Application>Microsoft Office PowerPoint</Application>
  <PresentationFormat>Widescreen</PresentationFormat>
  <Paragraphs>205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Engineer The</dc:creator>
  <cp:lastModifiedBy>Engineer The</cp:lastModifiedBy>
  <cp:revision>2</cp:revision>
  <dcterms:created xsi:type="dcterms:W3CDTF">2025-04-29T11:35:59Z</dcterms:created>
  <dcterms:modified xsi:type="dcterms:W3CDTF">2025-04-29T14:12:35Z</dcterms:modified>
</cp:coreProperties>
</file>